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ADC Peptide Mapper, version 0.8 — a free, open-source platform for in-silico peptide mapping of antibody-drug conjugates. Over the next ten minutes I'll walk from the analytical problem ADCs pose, through the workflow, to how it's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ADC is three things fused into one molecule: a monoclonal antibody, a cytotoxic payload, and a chemically labile linker. Standard peptide mapping assumes a clean, fixed sequence — ADCs violate that on three fronts: heterogeneous drug load, unstable linker chemistry, and ambiguous conjugation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people use today? Two options, each with a catch. Generic proteomics engines are accurate and free but ADC-blind. Commercial ADC suites are purpose-built but closed and licensed per seat. Most teams end up stitching spreadsheets and one-off scripts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tool at a glance. Seven connected tabs carry a sequence from upload to confirmed, instrument-ready methods. Each hand-off is automatic — the peptide list from the digest feeds coverage, transitions, labeling, and the search cross-reference.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is the digest engine. Eleven proteases, an optional second enzyme for sequential dual digestion, and zero to two missed cleavages. On top sit fixed, variable, special, and fully custom modifications — including the ADCDB drug-linker payload library. Every peptide gets a full b/y ion series and an averagine isotope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tool — and what makes it ADC-native. DAR distribution modeling generates a complete MRM transition list for every drug-to-antibody-ratio species, DAR0 through DARn. And the five linker biotransformations that plague ADC samples are built in as variable modifications with exact monoisotopic mass shifts. Three conjugation chemistries are supported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peptides, two questions matter: are they specific, and do they cover the molecule? The tool checks every peptide against pre-built Human, Cynomolgus, and Rat proteomes — plus a cross-species co-uniqueness filter and cRAP contaminant flagging. The sequence coverage map shows exactly what you're monitoring, colored by uniqueness, missed cleavages, or length, and exports at 300 dpi.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method is ready, the tool speaks your instrument's language. Six platform families, each with its own collision-energy formula and CSV column layout — Thermo, SCIEX, Bruker, Agilent, Waters, and a generic Skyline import. And for absolute quantitation, the heavy labeling tab generates stable-isotope light/heavy peptide pairs from six presets or a custom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a method is one thing; confirming it is another. Tab six runs a real search engine locally — MS Amanda 3.0 as primary, Tide/Crux as fallback, both completely free. It estimates target-decoy FDR, or you can upload precomputed results in any common format. Every PSM is cross-referenced against the theoretical peptide list from earlier in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matters if the masses are wrong. The core engine is validated to sub-milliDalton accuracy against IgG1 tryptic reference peptides. Seventy-nine unit tests cover mass functions, cleavage rules, DAR, isotopes and constants — a hundred percent pass rate. Ten reference peptides benchmark at or below 0.05 milliDaltons. The science underneath uses established methods — Senko averagine, Käll target-decoy.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version 0.8: a built-in AI assistant. It's a Claude-powered chat pre-loaded with ADC and proteomics context, so it can interpret your results, explain a mass shift, or troubleshoot a workflow. A toggle attaches live digest context — the ADC name, chains detected, enzyme, and peptide count. It uses your own Anthropic key, stored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is free, open, and citable. MIT licensed, open source on GitHub, running live on shinyapps.io, with a real Zenodo DOI. Try it with the pre-loaded Trastuzumab demo, and if it helps your work, please cite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D3648">
                  <a:alpha val="100000"/>
                </a:srgbClr>
              </a:gs>
              <a:gs pos="62000">
                <a:srgbClr val="0F1D29">
                  <a:alpha val="100000"/>
                </a:srgbClr>
              </a:gs>
            </a:gsLst>
            <a:path path="circle">
              <a:fillToRect l="76000" t="22000" r="24000" b="78000"/>
            </a:path>
          </a:gradFill>
          <a:ln/>
        </p:spPr>
      </p:sp>
      <p:sp>
        <p:nvSpPr>
          <p:cNvPr id="3" name="Text 1"/>
          <p:cNvSpPr/>
          <p:nvPr/>
        </p:nvSpPr>
        <p:spPr>
          <a:xfrm>
            <a:off x="1047750" y="876300"/>
            <a:ext cx="17811750" cy="333375"/>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EC9A0"/>
                </a:solidFill>
                <a:latin typeface="Courier New" pitchFamily="34" charset="0"/>
                <a:ea typeface="Courier New" pitchFamily="34" charset="-122"/>
                <a:cs typeface="Courier New" pitchFamily="34" charset="-120"/>
              </a:rPr>
              <a:t>IN-SILICO PEPTIDE MAPPING · ANTIBODY–DRUG CONJUGATES</a:t>
            </a:r>
            <a:endParaRPr lang="en-US" sz="1800" dirty="0"/>
          </a:p>
        </p:txBody>
      </p:sp>
      <p:sp>
        <p:nvSpPr>
          <p:cNvPr id="4" name="Shape 2"/>
          <p:cNvSpPr/>
          <p:nvPr/>
        </p:nvSpPr>
        <p:spPr>
          <a:xfrm>
            <a:off x="1047750" y="2987725"/>
            <a:ext cx="1409700" cy="66675"/>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5" name="Text 3"/>
          <p:cNvSpPr/>
          <p:nvPr/>
        </p:nvSpPr>
        <p:spPr>
          <a:xfrm>
            <a:off x="1047750" y="3378250"/>
            <a:ext cx="10988040" cy="2427684"/>
          </a:xfrm>
          <a:prstGeom prst="rect">
            <a:avLst/>
          </a:prstGeom>
          <a:noFill/>
          <a:ln/>
        </p:spPr>
        <p:txBody>
          <a:bodyPr wrap="square" lIns="25400" tIns="25400" rIns="25400" bIns="25400" rtlCol="0" anchor="t">
            <a:normAutofit/>
          </a:bodyPr>
          <a:lstStyle/>
          <a:p>
            <a:pPr algn="l" indent="0" marL="0">
              <a:lnSpc>
                <a:spcPct val="98000"/>
              </a:lnSpc>
              <a:buNone/>
            </a:pPr>
            <a:r>
              <a:rPr lang="en-US" sz="9600" b="1" spc="-288" kern="0" dirty="0">
                <a:solidFill>
                  <a:srgbClr val="EEF2F4"/>
                </a:solidFill>
                <a:latin typeface="Arial" pitchFamily="34" charset="0"/>
                <a:ea typeface="Arial" pitchFamily="34" charset="-122"/>
                <a:cs typeface="Arial" pitchFamily="34" charset="-120"/>
              </a:rPr>
              <a:t>ADC Peptide Mapper </a:t>
            </a:r>
            <a:pPr algn="l" indent="0" marL="0">
              <a:lnSpc>
                <a:spcPct val="98000"/>
              </a:lnSpc>
              <a:buNone/>
            </a:pPr>
            <a:r>
              <a:rPr lang="en-US" sz="6600" spc="-288" kern="0" dirty="0">
                <a:solidFill>
                  <a:srgbClr val="5EC9A0"/>
                </a:solidFill>
                <a:latin typeface="Courier New" pitchFamily="34" charset="0"/>
                <a:ea typeface="Courier New" pitchFamily="34" charset="-122"/>
                <a:cs typeface="Courier New" pitchFamily="34" charset="-120"/>
              </a:rPr>
              <a:t>v0.8</a:t>
            </a:r>
            <a:endParaRPr lang="en-US" sz="9600" dirty="0"/>
          </a:p>
        </p:txBody>
      </p:sp>
      <p:sp>
        <p:nvSpPr>
          <p:cNvPr id="6" name="Text 4"/>
          <p:cNvSpPr/>
          <p:nvPr/>
        </p:nvSpPr>
        <p:spPr>
          <a:xfrm>
            <a:off x="1047750" y="6091684"/>
            <a:ext cx="9810750" cy="1398091"/>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B9C6CF"/>
                </a:solidFill>
                <a:latin typeface="Arial" pitchFamily="34" charset="0"/>
                <a:ea typeface="Arial" pitchFamily="34" charset="-122"/>
                <a:cs typeface="Arial" pitchFamily="34" charset="-120"/>
              </a:rPr>
              <a:t>An end-to-end, ADC-native platform — from FASTA sequence to instrument-ready transition lists, uniqueness-checked and mass-validated.</a:t>
            </a:r>
            <a:endParaRPr lang="en-US" sz="2550" dirty="0"/>
          </a:p>
        </p:txBody>
      </p:sp>
      <p:pic>
        <p:nvPicPr>
          <p:cNvPr id="7" name="Image 0" descr="preencoded.png">    </p:cNvPr>
          <p:cNvPicPr>
            <a:picLocks noChangeAspect="1"/>
          </p:cNvPicPr>
          <p:nvPr/>
        </p:nvPicPr>
        <p:blipFill>
          <a:blip r:embed="rId1">
            <a:alphaModFix amt="92000"/>
            <a:extLst>
              <a:ext uri="{96DAC541-7B7A-43D3-8B79-37D633B846F1}">
                <asvg:svgBlip xmlns:asvg="http://schemas.microsoft.com/office/drawing/2016/SVG/main" r:embed="rId2"/>
              </a:ext>
            </a:extLst>
          </a:blip>
          <a:stretch>
            <a:fillRect/>
          </a:stretch>
        </p:blipFill>
        <p:spPr>
          <a:xfrm>
            <a:off x="14097000" y="3648075"/>
            <a:ext cx="3143250" cy="3143250"/>
          </a:xfrm>
          <a:prstGeom prst="rect">
            <a:avLst/>
          </a:prstGeom>
        </p:spPr>
      </p:pic>
      <p:sp>
        <p:nvSpPr>
          <p:cNvPr id="8" name="Text 5"/>
          <p:cNvSpPr/>
          <p:nvPr/>
        </p:nvSpPr>
        <p:spPr>
          <a:xfrm>
            <a:off x="1047750" y="9267825"/>
            <a:ext cx="286666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B9C6CF"/>
                </a:solidFill>
                <a:latin typeface="Courier New" pitchFamily="34" charset="0"/>
                <a:ea typeface="Courier New" pitchFamily="34" charset="-122"/>
                <a:cs typeface="Courier New" pitchFamily="34" charset="-120"/>
              </a:rPr>
              <a:t>Nishikant Wase, PhD</a:t>
            </a:r>
            <a:endParaRPr lang="en-US" sz="1800" dirty="0"/>
          </a:p>
        </p:txBody>
      </p:sp>
      <p:sp>
        <p:nvSpPr>
          <p:cNvPr id="9" name="Text 6"/>
          <p:cNvSpPr/>
          <p:nvPr/>
        </p:nvSpPr>
        <p:spPr>
          <a:xfrm>
            <a:off x="3920505" y="9267825"/>
            <a:ext cx="2134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D5566"/>
                </a:solidFill>
                <a:latin typeface="Courier New" pitchFamily="34" charset="0"/>
                <a:ea typeface="Courier New" pitchFamily="34" charset="-122"/>
                <a:cs typeface="Courier New" pitchFamily="34" charset="-120"/>
              </a:rPr>
              <a:t>|</a:t>
            </a:r>
            <a:endParaRPr lang="en-US" sz="1800" dirty="0"/>
          </a:p>
        </p:txBody>
      </p:sp>
      <p:sp>
        <p:nvSpPr>
          <p:cNvPr id="10" name="Text 7"/>
          <p:cNvSpPr/>
          <p:nvPr/>
        </p:nvSpPr>
        <p:spPr>
          <a:xfrm>
            <a:off x="4324424" y="9267825"/>
            <a:ext cx="25649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EA0AC"/>
                </a:solidFill>
                <a:latin typeface="Courier New" pitchFamily="34" charset="0"/>
                <a:ea typeface="Courier New" pitchFamily="34" charset="-122"/>
                <a:cs typeface="Courier New" pitchFamily="34" charset="-120"/>
              </a:rPr>
              <a:t>MIT · Open source</a:t>
            </a:r>
            <a:endParaRPr lang="en-US" sz="1800" dirty="0"/>
          </a:p>
        </p:txBody>
      </p:sp>
      <p:sp>
        <p:nvSpPr>
          <p:cNvPr id="11" name="Text 8"/>
          <p:cNvSpPr/>
          <p:nvPr/>
        </p:nvSpPr>
        <p:spPr>
          <a:xfrm>
            <a:off x="6922889" y="9267825"/>
            <a:ext cx="2134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3D5566"/>
                </a:solidFill>
                <a:latin typeface="Courier New" pitchFamily="34" charset="0"/>
                <a:ea typeface="Courier New" pitchFamily="34" charset="-122"/>
                <a:cs typeface="Courier New" pitchFamily="34" charset="-120"/>
              </a:rPr>
              <a:t>|</a:t>
            </a:r>
            <a:endParaRPr lang="en-US" sz="1800" dirty="0"/>
          </a:p>
        </p:txBody>
      </p:sp>
      <p:sp>
        <p:nvSpPr>
          <p:cNvPr id="12" name="Text 9"/>
          <p:cNvSpPr/>
          <p:nvPr/>
        </p:nvSpPr>
        <p:spPr>
          <a:xfrm>
            <a:off x="7326809" y="9267825"/>
            <a:ext cx="4073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EA0AC"/>
                </a:solidFill>
                <a:latin typeface="Courier New" pitchFamily="34" charset="0"/>
                <a:ea typeface="Courier New" pitchFamily="34" charset="-122"/>
                <a:cs typeface="Courier New" pitchFamily="34" charset="-120"/>
              </a:rPr>
              <a:t>DOI 10.5281/zenodo.20681412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D3648">
                  <a:alpha val="100000"/>
                </a:srgbClr>
              </a:gs>
              <a:gs pos="64000">
                <a:srgbClr val="0F1D29">
                  <a:alpha val="100000"/>
                </a:srgbClr>
              </a:gs>
            </a:gsLst>
            <a:path path="circle">
              <a:fillToRect l="20000" t="18000" r="80000" b="82000"/>
            </a:path>
          </a:gradFill>
          <a:ln/>
        </p:spPr>
      </p:sp>
      <p:sp>
        <p:nvSpPr>
          <p:cNvPr id="3" name="Text 1"/>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EC9A0"/>
                </a:solidFill>
                <a:latin typeface="Courier New" pitchFamily="34" charset="0"/>
                <a:ea typeface="Courier New" pitchFamily="34" charset="-122"/>
                <a:cs typeface="Courier New" pitchFamily="34" charset="-120"/>
              </a:rPr>
              <a:t>THE PROBLEM</a:t>
            </a:r>
            <a:endParaRPr lang="en-US" sz="1800" dirty="0"/>
          </a:p>
        </p:txBody>
      </p:sp>
      <p:sp>
        <p:nvSpPr>
          <p:cNvPr id="4" name="Text 2"/>
          <p:cNvSpPr/>
          <p:nvPr/>
        </p:nvSpPr>
        <p:spPr>
          <a:xfrm>
            <a:off x="1047750" y="1266825"/>
            <a:ext cx="17811750" cy="698748"/>
          </a:xfrm>
          <a:prstGeom prst="rect">
            <a:avLst/>
          </a:prstGeom>
          <a:noFill/>
          <a:ln/>
        </p:spPr>
        <p:txBody>
          <a:bodyPr wrap="square" lIns="25400" tIns="25400" rIns="25400" bIns="25400" rtlCol="0" anchor="t">
            <a:normAutofit/>
          </a:bodyPr>
          <a:lstStyle/>
          <a:p>
            <a:pPr algn="l" indent="0" marL="0">
              <a:lnSpc>
                <a:spcPct val="102000"/>
              </a:lnSpc>
              <a:buNone/>
            </a:pPr>
            <a:r>
              <a:rPr lang="en-US" sz="5100" b="1" spc="-102" kern="0" dirty="0">
                <a:solidFill>
                  <a:srgbClr val="EEF2F4"/>
                </a:solidFill>
                <a:latin typeface="Arial" pitchFamily="34" charset="0"/>
                <a:ea typeface="Arial" pitchFamily="34" charset="-122"/>
                <a:cs typeface="Arial" pitchFamily="34" charset="-120"/>
              </a:rPr>
              <a:t>The characterization problem</a:t>
            </a:r>
            <a:endParaRPr lang="en-US" sz="5100" dirty="0"/>
          </a:p>
        </p:txBody>
      </p:sp>
      <p:sp>
        <p:nvSpPr>
          <p:cNvPr id="5" name="Text 3"/>
          <p:cNvSpPr/>
          <p:nvPr/>
        </p:nvSpPr>
        <p:spPr>
          <a:xfrm>
            <a:off x="1047750" y="2156073"/>
            <a:ext cx="1216533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B9C6CF"/>
                </a:solidFill>
                <a:latin typeface="Arial" pitchFamily="34" charset="0"/>
                <a:ea typeface="Arial" pitchFamily="34" charset="-122"/>
                <a:cs typeface="Arial" pitchFamily="34" charset="-120"/>
              </a:rPr>
              <a:t>An antibody, a cytotoxic payload, and a labile linker — in one molecule. Standard peptide mapping wasn't built for it.</a:t>
            </a:r>
            <a:endParaRPr lang="en-US" sz="2400" dirty="0"/>
          </a:p>
        </p:txBody>
      </p:sp>
      <p:sp>
        <p:nvSpPr>
          <p:cNvPr id="6" name="Shape 4"/>
          <p:cNvSpPr/>
          <p:nvPr/>
        </p:nvSpPr>
        <p:spPr>
          <a:xfrm>
            <a:off x="1047750" y="4900538"/>
            <a:ext cx="5206975" cy="3285827"/>
          </a:xfrm>
          <a:prstGeom prst="roundRect">
            <a:avLst>
              <a:gd name="adj" fmla="val 4638"/>
            </a:avLst>
          </a:prstGeom>
          <a:solidFill>
            <a:srgbClr val="FFFFFF">
              <a:alpha val="4000"/>
            </a:srgbClr>
          </a:solidFill>
          <a:ln w="9525">
            <a:solidFill>
              <a:srgbClr val="FFFFFF">
                <a:alpha val="12000"/>
              </a:srgbClr>
            </a:solidFill>
            <a:prstDash val="solid"/>
          </a:ln>
        </p:spPr>
      </p:sp>
      <p:sp>
        <p:nvSpPr>
          <p:cNvPr id="7" name="Text 5"/>
          <p:cNvSpPr/>
          <p:nvPr/>
        </p:nvSpPr>
        <p:spPr>
          <a:xfrm>
            <a:off x="1381125" y="5272013"/>
            <a:ext cx="499424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EC962"/>
                </a:solidFill>
                <a:latin typeface="Courier New" pitchFamily="34" charset="0"/>
                <a:ea typeface="Courier New" pitchFamily="34" charset="-122"/>
                <a:cs typeface="Courier New" pitchFamily="34" charset="-120"/>
              </a:rPr>
              <a:t>01</a:t>
            </a:r>
            <a:endParaRPr lang="en-US" sz="1800" dirty="0"/>
          </a:p>
        </p:txBody>
      </p:sp>
      <p:sp>
        <p:nvSpPr>
          <p:cNvPr id="8" name="Text 6"/>
          <p:cNvSpPr/>
          <p:nvPr/>
        </p:nvSpPr>
        <p:spPr>
          <a:xfrm>
            <a:off x="1381125" y="5738738"/>
            <a:ext cx="4994248"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EF2F4"/>
                </a:solidFill>
                <a:latin typeface="Arial" pitchFamily="34" charset="0"/>
                <a:ea typeface="Arial" pitchFamily="34" charset="-122"/>
                <a:cs typeface="Arial" pitchFamily="34" charset="-120"/>
              </a:rPr>
              <a:t>Heterogeneous drug load</a:t>
            </a:r>
            <a:endParaRPr lang="en-US" sz="2550" dirty="0"/>
          </a:p>
        </p:txBody>
      </p:sp>
      <p:sp>
        <p:nvSpPr>
          <p:cNvPr id="9" name="Text 7"/>
          <p:cNvSpPr/>
          <p:nvPr/>
        </p:nvSpPr>
        <p:spPr>
          <a:xfrm>
            <a:off x="1381125" y="6281663"/>
            <a:ext cx="4676432" cy="1571327"/>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AEBCC6"/>
                </a:solidFill>
                <a:latin typeface="Arial" pitchFamily="34" charset="0"/>
                <a:ea typeface="Arial" pitchFamily="34" charset="-122"/>
                <a:cs typeface="Arial" pitchFamily="34" charset="-120"/>
              </a:rPr>
              <a:t>Conjugation follows a distribution, not a fixed number. Every DAR0–DAR </a:t>
            </a:r>
            <a:pPr algn="l" indent="0" marL="0">
              <a:lnSpc>
                <a:spcPct val="145000"/>
              </a:lnSpc>
              <a:buNone/>
            </a:pPr>
            <a:r>
              <a:rPr lang="en-US" sz="1688" baseline="-40000" dirty="0">
                <a:solidFill>
                  <a:srgbClr val="AEBCC6"/>
                </a:solidFill>
                <a:latin typeface="Arial" pitchFamily="34" charset="0"/>
                <a:ea typeface="Arial" pitchFamily="34" charset="-122"/>
                <a:cs typeface="Arial" pitchFamily="34" charset="-120"/>
              </a:rPr>
              <a:t>n </a:t>
            </a:r>
            <a:pPr algn="l" indent="0" marL="0">
              <a:lnSpc>
                <a:spcPct val="145000"/>
              </a:lnSpc>
              <a:buNone/>
            </a:pPr>
            <a:r>
              <a:rPr lang="en-US" sz="2025" dirty="0">
                <a:solidFill>
                  <a:srgbClr val="AEBCC6"/>
                </a:solidFill>
                <a:latin typeface="Arial" pitchFamily="34" charset="0"/>
                <a:ea typeface="Arial" pitchFamily="34" charset="-122"/>
                <a:cs typeface="Arial" pitchFamily="34" charset="-120"/>
              </a:rPr>
              <a:t>species must be modeled and monitored.</a:t>
            </a:r>
            <a:endParaRPr lang="en-US" sz="2025" dirty="0"/>
          </a:p>
        </p:txBody>
      </p:sp>
      <p:sp>
        <p:nvSpPr>
          <p:cNvPr id="10" name="Shape 8"/>
          <p:cNvSpPr/>
          <p:nvPr/>
        </p:nvSpPr>
        <p:spPr>
          <a:xfrm>
            <a:off x="6540475" y="4900538"/>
            <a:ext cx="5206975" cy="3285827"/>
          </a:xfrm>
          <a:prstGeom prst="roundRect">
            <a:avLst>
              <a:gd name="adj" fmla="val 4638"/>
            </a:avLst>
          </a:prstGeom>
          <a:solidFill>
            <a:srgbClr val="FFFFFF">
              <a:alpha val="4000"/>
            </a:srgbClr>
          </a:solidFill>
          <a:ln w="9525">
            <a:solidFill>
              <a:srgbClr val="FFFFFF">
                <a:alpha val="12000"/>
              </a:srgbClr>
            </a:solidFill>
            <a:prstDash val="solid"/>
          </a:ln>
        </p:spPr>
      </p:sp>
      <p:sp>
        <p:nvSpPr>
          <p:cNvPr id="11" name="Text 9"/>
          <p:cNvSpPr/>
          <p:nvPr/>
        </p:nvSpPr>
        <p:spPr>
          <a:xfrm>
            <a:off x="6873850" y="5272013"/>
            <a:ext cx="499424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EC962"/>
                </a:solidFill>
                <a:latin typeface="Courier New" pitchFamily="34" charset="0"/>
                <a:ea typeface="Courier New" pitchFamily="34" charset="-122"/>
                <a:cs typeface="Courier New" pitchFamily="34" charset="-120"/>
              </a:rPr>
              <a:t>02</a:t>
            </a:r>
            <a:endParaRPr lang="en-US" sz="1800" dirty="0"/>
          </a:p>
        </p:txBody>
      </p:sp>
      <p:sp>
        <p:nvSpPr>
          <p:cNvPr id="12" name="Text 10"/>
          <p:cNvSpPr/>
          <p:nvPr/>
        </p:nvSpPr>
        <p:spPr>
          <a:xfrm>
            <a:off x="6873850" y="5738738"/>
            <a:ext cx="4994248"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EF2F4"/>
                </a:solidFill>
                <a:latin typeface="Arial" pitchFamily="34" charset="0"/>
                <a:ea typeface="Arial" pitchFamily="34" charset="-122"/>
                <a:cs typeface="Arial" pitchFamily="34" charset="-120"/>
              </a:rPr>
              <a:t>Labile linker chemistry</a:t>
            </a:r>
            <a:endParaRPr lang="en-US" sz="2550" dirty="0"/>
          </a:p>
        </p:txBody>
      </p:sp>
      <p:sp>
        <p:nvSpPr>
          <p:cNvPr id="13" name="Text 11"/>
          <p:cNvSpPr/>
          <p:nvPr/>
        </p:nvSpPr>
        <p:spPr>
          <a:xfrm>
            <a:off x="6873850" y="6281663"/>
            <a:ext cx="4676432" cy="1156767"/>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AEBCC6"/>
                </a:solidFill>
                <a:latin typeface="Arial" pitchFamily="34" charset="0"/>
                <a:ea typeface="Arial" pitchFamily="34" charset="-122"/>
                <a:cs typeface="Arial" pitchFamily="34" charset="-120"/>
              </a:rPr>
              <a:t>Maleimide hydrolysis, ring-opening, and oxidation shift peptide masses during sample handling.</a:t>
            </a:r>
            <a:endParaRPr lang="en-US" sz="2025" dirty="0"/>
          </a:p>
        </p:txBody>
      </p:sp>
      <p:sp>
        <p:nvSpPr>
          <p:cNvPr id="14" name="Shape 12"/>
          <p:cNvSpPr/>
          <p:nvPr/>
        </p:nvSpPr>
        <p:spPr>
          <a:xfrm>
            <a:off x="12033200" y="4900538"/>
            <a:ext cx="5207050" cy="3285827"/>
          </a:xfrm>
          <a:prstGeom prst="roundRect">
            <a:avLst>
              <a:gd name="adj" fmla="val 4638"/>
            </a:avLst>
          </a:prstGeom>
          <a:solidFill>
            <a:srgbClr val="FFFFFF">
              <a:alpha val="4000"/>
            </a:srgbClr>
          </a:solidFill>
          <a:ln w="9525">
            <a:solidFill>
              <a:srgbClr val="FFFFFF">
                <a:alpha val="12000"/>
              </a:srgbClr>
            </a:solidFill>
            <a:prstDash val="solid"/>
          </a:ln>
        </p:spPr>
      </p:sp>
      <p:sp>
        <p:nvSpPr>
          <p:cNvPr id="15" name="Text 13"/>
          <p:cNvSpPr/>
          <p:nvPr/>
        </p:nvSpPr>
        <p:spPr>
          <a:xfrm>
            <a:off x="12366575" y="5272013"/>
            <a:ext cx="499433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EC962"/>
                </a:solidFill>
                <a:latin typeface="Courier New" pitchFamily="34" charset="0"/>
                <a:ea typeface="Courier New" pitchFamily="34" charset="-122"/>
                <a:cs typeface="Courier New" pitchFamily="34" charset="-120"/>
              </a:rPr>
              <a:t>03</a:t>
            </a:r>
            <a:endParaRPr lang="en-US" sz="1800" dirty="0"/>
          </a:p>
        </p:txBody>
      </p:sp>
      <p:sp>
        <p:nvSpPr>
          <p:cNvPr id="16" name="Text 14"/>
          <p:cNvSpPr/>
          <p:nvPr/>
        </p:nvSpPr>
        <p:spPr>
          <a:xfrm>
            <a:off x="12366575" y="5738738"/>
            <a:ext cx="499433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EF2F4"/>
                </a:solidFill>
                <a:latin typeface="Arial" pitchFamily="34" charset="0"/>
                <a:ea typeface="Arial" pitchFamily="34" charset="-122"/>
                <a:cs typeface="Arial" pitchFamily="34" charset="-120"/>
              </a:rPr>
              <a:t>Site localization</a:t>
            </a:r>
            <a:endParaRPr lang="en-US" sz="2550" dirty="0"/>
          </a:p>
        </p:txBody>
      </p:sp>
      <p:sp>
        <p:nvSpPr>
          <p:cNvPr id="17" name="Text 15"/>
          <p:cNvSpPr/>
          <p:nvPr/>
        </p:nvSpPr>
        <p:spPr>
          <a:xfrm>
            <a:off x="12366575" y="6281663"/>
            <a:ext cx="4676509" cy="1156767"/>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AEBCC6"/>
                </a:solidFill>
                <a:latin typeface="Arial" pitchFamily="34" charset="0"/>
                <a:ea typeface="Arial" pitchFamily="34" charset="-122"/>
                <a:cs typeface="Arial" pitchFamily="34" charset="-120"/>
              </a:rPr>
              <a:t>Cysteine and lysine conjugation sites must be pinpointed and confirmed against the sequence.</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1F7A6D"/>
                </a:solidFill>
                <a:latin typeface="Courier New" pitchFamily="34" charset="0"/>
                <a:ea typeface="Courier New" pitchFamily="34" charset="-122"/>
                <a:cs typeface="Courier New" pitchFamily="34" charset="-120"/>
              </a:rPr>
              <a:t>WHY IT'S HARD TODAY</a:t>
            </a:r>
            <a:endParaRPr lang="en-US" sz="1800" dirty="0"/>
          </a:p>
        </p:txBody>
      </p:sp>
      <p:sp>
        <p:nvSpPr>
          <p:cNvPr id="3" name="Shape 1"/>
          <p:cNvSpPr/>
          <p:nvPr/>
        </p:nvSpPr>
        <p:spPr>
          <a:xfrm>
            <a:off x="1047750" y="1247775"/>
            <a:ext cx="1257300" cy="57150"/>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4" name="Text 2"/>
          <p:cNvSpPr/>
          <p:nvPr/>
        </p:nvSpPr>
        <p:spPr>
          <a:xfrm>
            <a:off x="1047750" y="1495425"/>
            <a:ext cx="1781175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6293A"/>
                </a:solidFill>
                <a:latin typeface="Arial" pitchFamily="34" charset="0"/>
                <a:ea typeface="Arial" pitchFamily="34" charset="-122"/>
                <a:cs typeface="Arial" pitchFamily="34" charset="-120"/>
              </a:rPr>
              <a:t>The tooling gap</a:t>
            </a:r>
            <a:endParaRPr lang="en-US" sz="4800" dirty="0"/>
          </a:p>
        </p:txBody>
      </p:sp>
      <p:sp>
        <p:nvSpPr>
          <p:cNvPr id="5" name="Shape 3"/>
          <p:cNvSpPr/>
          <p:nvPr/>
        </p:nvSpPr>
        <p:spPr>
          <a:xfrm>
            <a:off x="1047750" y="4150891"/>
            <a:ext cx="7953375" cy="2078236"/>
          </a:xfrm>
          <a:prstGeom prst="roundRect">
            <a:avLst>
              <a:gd name="adj" fmla="val 7333"/>
            </a:avLst>
          </a:prstGeom>
          <a:solidFill>
            <a:srgbClr val="FFFFFF"/>
          </a:solidFill>
          <a:ln w="9525">
            <a:solidFill>
              <a:srgbClr val="DCE3E7"/>
            </a:solidFill>
            <a:prstDash val="solid"/>
          </a:ln>
        </p:spPr>
      </p:sp>
      <p:sp>
        <p:nvSpPr>
          <p:cNvPr id="6" name="Text 4"/>
          <p:cNvSpPr/>
          <p:nvPr/>
        </p:nvSpPr>
        <p:spPr>
          <a:xfrm>
            <a:off x="1419225" y="4541416"/>
            <a:ext cx="7931468"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6293A"/>
                </a:solidFill>
                <a:latin typeface="Arial" pitchFamily="34" charset="0"/>
                <a:ea typeface="Arial" pitchFamily="34" charset="-122"/>
                <a:cs typeface="Arial" pitchFamily="34" charset="-120"/>
              </a:rPr>
              <a:t>Generic proteomics engines</a:t>
            </a:r>
            <a:endParaRPr lang="en-US" sz="2550" dirty="0"/>
          </a:p>
        </p:txBody>
      </p:sp>
      <p:sp>
        <p:nvSpPr>
          <p:cNvPr id="7" name="Text 5"/>
          <p:cNvSpPr/>
          <p:nvPr/>
        </p:nvSpPr>
        <p:spPr>
          <a:xfrm>
            <a:off x="1419225" y="5065291"/>
            <a:ext cx="7426738" cy="811411"/>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4A5C6A"/>
                </a:solidFill>
                <a:latin typeface="Arial" pitchFamily="34" charset="0"/>
                <a:ea typeface="Arial" pitchFamily="34" charset="-122"/>
                <a:cs typeface="Arial" pitchFamily="34" charset="-120"/>
              </a:rPr>
              <a:t>Accurate and free — but ADC-blind. No DAR distribution, no linker biotransformations, no drug-linker payload library.</a:t>
            </a:r>
            <a:endParaRPr lang="en-US" sz="2100" dirty="0"/>
          </a:p>
        </p:txBody>
      </p:sp>
      <p:sp>
        <p:nvSpPr>
          <p:cNvPr id="8" name="Shape 6"/>
          <p:cNvSpPr/>
          <p:nvPr/>
        </p:nvSpPr>
        <p:spPr>
          <a:xfrm>
            <a:off x="9286875" y="4150891"/>
            <a:ext cx="7953375" cy="2078236"/>
          </a:xfrm>
          <a:prstGeom prst="roundRect">
            <a:avLst>
              <a:gd name="adj" fmla="val 7333"/>
            </a:avLst>
          </a:prstGeom>
          <a:solidFill>
            <a:srgbClr val="FFFFFF"/>
          </a:solidFill>
          <a:ln w="9525">
            <a:solidFill>
              <a:srgbClr val="DCE3E7"/>
            </a:solidFill>
            <a:prstDash val="solid"/>
          </a:ln>
        </p:spPr>
      </p:sp>
      <p:sp>
        <p:nvSpPr>
          <p:cNvPr id="9" name="Text 7"/>
          <p:cNvSpPr/>
          <p:nvPr/>
        </p:nvSpPr>
        <p:spPr>
          <a:xfrm>
            <a:off x="9658350" y="4541416"/>
            <a:ext cx="7931468"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6293A"/>
                </a:solidFill>
                <a:latin typeface="Arial" pitchFamily="34" charset="0"/>
                <a:ea typeface="Arial" pitchFamily="34" charset="-122"/>
                <a:cs typeface="Arial" pitchFamily="34" charset="-120"/>
              </a:rPr>
              <a:t>Commercial ADC suites</a:t>
            </a:r>
            <a:endParaRPr lang="en-US" sz="2550" dirty="0"/>
          </a:p>
        </p:txBody>
      </p:sp>
      <p:sp>
        <p:nvSpPr>
          <p:cNvPr id="10" name="Text 8"/>
          <p:cNvSpPr/>
          <p:nvPr/>
        </p:nvSpPr>
        <p:spPr>
          <a:xfrm>
            <a:off x="9658350" y="5065291"/>
            <a:ext cx="7426738" cy="811411"/>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4A5C6A"/>
                </a:solidFill>
                <a:latin typeface="Arial" pitchFamily="34" charset="0"/>
                <a:ea typeface="Arial" pitchFamily="34" charset="-122"/>
                <a:cs typeface="Arial" pitchFamily="34" charset="-120"/>
              </a:rPr>
              <a:t>Purpose-built — but closed and licensed per seat. A barrier for method development and academic labs.</a:t>
            </a:r>
            <a:endParaRPr lang="en-US" sz="2100" dirty="0"/>
          </a:p>
        </p:txBody>
      </p:sp>
      <p:sp>
        <p:nvSpPr>
          <p:cNvPr id="11" name="Shape 9"/>
          <p:cNvSpPr/>
          <p:nvPr/>
        </p:nvSpPr>
        <p:spPr>
          <a:xfrm>
            <a:off x="1047750" y="6476777"/>
            <a:ext cx="16192500" cy="1071563"/>
          </a:xfrm>
          <a:prstGeom prst="roundRect">
            <a:avLst>
              <a:gd name="adj" fmla="val 14222"/>
            </a:avLst>
          </a:prstGeom>
          <a:solidFill>
            <a:srgbClr val="16293A"/>
          </a:solidFill>
          <a:ln/>
        </p:spPr>
      </p:sp>
      <p:sp>
        <p:nvSpPr>
          <p:cNvPr id="12" name="Text 10"/>
          <p:cNvSpPr/>
          <p:nvPr/>
        </p:nvSpPr>
        <p:spPr>
          <a:xfrm>
            <a:off x="1428750" y="6800627"/>
            <a:ext cx="15916275" cy="461962"/>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EEF2F4"/>
                </a:solidFill>
                <a:highlight>
                  <a:srgbClr val="16293A"/>
                </a:highlight>
                <a:latin typeface="Arial" pitchFamily="34" charset="0"/>
                <a:ea typeface="Arial" pitchFamily="34" charset="-122"/>
                <a:cs typeface="Arial" pitchFamily="34" charset="-120"/>
              </a:rPr>
              <a:t>The fallback is spreadsheets and one-off scripts. There has been no free, ADC-native, end-to-end mapper — </a:t>
            </a:r>
            <a:pPr algn="l" indent="0" marL="0">
              <a:lnSpc>
                <a:spcPct val="145000"/>
              </a:lnSpc>
              <a:buNone/>
            </a:pPr>
            <a:r>
              <a:rPr lang="en-US" sz="2250" b="1" dirty="0">
                <a:solidFill>
                  <a:srgbClr val="5EC9A0"/>
                </a:solidFill>
                <a:latin typeface="Arial" pitchFamily="34" charset="0"/>
                <a:ea typeface="Arial" pitchFamily="34" charset="-122"/>
                <a:cs typeface="Arial" pitchFamily="34" charset="-120"/>
              </a:rPr>
              <a:t>until now.</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1F7A6D"/>
                </a:solidFill>
                <a:latin typeface="Courier New" pitchFamily="34" charset="0"/>
                <a:ea typeface="Courier New" pitchFamily="34" charset="-122"/>
                <a:cs typeface="Courier New" pitchFamily="34" charset="-120"/>
              </a:rPr>
              <a:t>THE SOLUTION</a:t>
            </a:r>
            <a:endParaRPr lang="en-US" sz="1800" dirty="0"/>
          </a:p>
        </p:txBody>
      </p:sp>
      <p:sp>
        <p:nvSpPr>
          <p:cNvPr id="3" name="Shape 1"/>
          <p:cNvSpPr/>
          <p:nvPr/>
        </p:nvSpPr>
        <p:spPr>
          <a:xfrm>
            <a:off x="1047750" y="1247775"/>
            <a:ext cx="1257300" cy="57150"/>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4" name="Text 2"/>
          <p:cNvSpPr/>
          <p:nvPr/>
        </p:nvSpPr>
        <p:spPr>
          <a:xfrm>
            <a:off x="1047750" y="1495425"/>
            <a:ext cx="1781175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6293A"/>
                </a:solidFill>
                <a:latin typeface="Arial" pitchFamily="34" charset="0"/>
                <a:ea typeface="Arial" pitchFamily="34" charset="-122"/>
                <a:cs typeface="Arial" pitchFamily="34" charset="-120"/>
              </a:rPr>
              <a:t>One integrated workflow</a:t>
            </a:r>
            <a:endParaRPr lang="en-US" sz="4800" dirty="0"/>
          </a:p>
        </p:txBody>
      </p:sp>
      <p:sp>
        <p:nvSpPr>
          <p:cNvPr id="5" name="Text 3"/>
          <p:cNvSpPr/>
          <p:nvPr/>
        </p:nvSpPr>
        <p:spPr>
          <a:xfrm>
            <a:off x="1047750" y="2326704"/>
            <a:ext cx="1362075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4A5C6A"/>
                </a:solidFill>
                <a:latin typeface="Arial" pitchFamily="34" charset="0"/>
                <a:ea typeface="Arial" pitchFamily="34" charset="-122"/>
                <a:cs typeface="Arial" pitchFamily="34" charset="-120"/>
              </a:rPr>
              <a:t>Seven connected tabs take a sequence from upload to confirmed, instrument-ready methods.</a:t>
            </a:r>
            <a:endParaRPr lang="en-US" sz="2250" dirty="0"/>
          </a:p>
        </p:txBody>
      </p:sp>
      <p:sp>
        <p:nvSpPr>
          <p:cNvPr id="6" name="Shape 4"/>
          <p:cNvSpPr/>
          <p:nvPr/>
        </p:nvSpPr>
        <p:spPr>
          <a:xfrm>
            <a:off x="1047750" y="4534867"/>
            <a:ext cx="1720825" cy="3429595"/>
          </a:xfrm>
          <a:prstGeom prst="roundRect">
            <a:avLst>
              <a:gd name="adj" fmla="val 7749"/>
            </a:avLst>
          </a:prstGeom>
          <a:solidFill>
            <a:srgbClr val="FFFFFF"/>
          </a:solidFill>
          <a:ln w="9525">
            <a:solidFill>
              <a:srgbClr val="DCE3E7"/>
            </a:solidFill>
            <a:prstDash val="solid"/>
          </a:ln>
        </p:spPr>
      </p:sp>
      <p:sp>
        <p:nvSpPr>
          <p:cNvPr id="7" name="Text 5"/>
          <p:cNvSpPr/>
          <p:nvPr/>
        </p:nvSpPr>
        <p:spPr>
          <a:xfrm>
            <a:off x="1266825" y="4811092"/>
            <a:ext cx="1410943" cy="319088"/>
          </a:xfrm>
          <a:prstGeom prst="rect">
            <a:avLst/>
          </a:prstGeom>
          <a:noFill/>
          <a:ln/>
        </p:spPr>
        <p:txBody>
          <a:bodyPr wrap="square" lIns="25400" tIns="25400" rIns="25400" bIns="25400" rtlCol="0" anchor="t">
            <a:normAutofit/>
          </a:bodyPr>
          <a:lstStyle/>
          <a:p>
            <a:pPr algn="l" indent="0" marL="0">
              <a:buNone/>
            </a:pPr>
            <a:r>
              <a:rPr lang="en-US" sz="1950" b="1" dirty="0">
                <a:solidFill>
                  <a:srgbClr val="440154"/>
                </a:solidFill>
                <a:latin typeface="Courier New" pitchFamily="34" charset="0"/>
                <a:ea typeface="Courier New" pitchFamily="34" charset="-122"/>
                <a:cs typeface="Courier New" pitchFamily="34" charset="-120"/>
              </a:rPr>
              <a:t>01</a:t>
            </a:r>
            <a:endParaRPr lang="en-US" sz="1950" dirty="0"/>
          </a:p>
        </p:txBody>
      </p:sp>
      <p:sp>
        <p:nvSpPr>
          <p:cNvPr id="8" name="Text 6"/>
          <p:cNvSpPr/>
          <p:nvPr/>
        </p:nvSpPr>
        <p:spPr>
          <a:xfrm>
            <a:off x="1266825" y="5244480"/>
            <a:ext cx="1358875" cy="632371"/>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16293A"/>
                </a:solidFill>
                <a:latin typeface="Arial" pitchFamily="34" charset="0"/>
                <a:ea typeface="Arial" pitchFamily="34" charset="-122"/>
                <a:cs typeface="Arial" pitchFamily="34" charset="-120"/>
              </a:rPr>
              <a:t>Input &amp; Setup</a:t>
            </a:r>
            <a:endParaRPr lang="en-US" sz="1950" dirty="0"/>
          </a:p>
        </p:txBody>
      </p:sp>
      <p:sp>
        <p:nvSpPr>
          <p:cNvPr id="9" name="Text 7"/>
          <p:cNvSpPr/>
          <p:nvPr/>
        </p:nvSpPr>
        <p:spPr>
          <a:xfrm>
            <a:off x="1266825" y="5991151"/>
            <a:ext cx="1358875" cy="1735187"/>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63737F"/>
                </a:solidFill>
                <a:latin typeface="Arial" pitchFamily="34" charset="0"/>
                <a:ea typeface="Arial" pitchFamily="34" charset="-122"/>
                <a:cs typeface="Arial" pitchFamily="34" charset="-120"/>
              </a:rPr>
              <a:t>FASTA upload, chain auto-detect, enzymes, background species.</a:t>
            </a:r>
            <a:endParaRPr lang="en-US" sz="1650" dirty="0"/>
          </a:p>
        </p:txBody>
      </p:sp>
      <p:sp>
        <p:nvSpPr>
          <p:cNvPr id="10" name="Text 8"/>
          <p:cNvSpPr/>
          <p:nvPr/>
        </p:nvSpPr>
        <p:spPr>
          <a:xfrm>
            <a:off x="2901925" y="6066309"/>
            <a:ext cx="3619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9FB0BA"/>
                </a:solidFill>
                <a:latin typeface="Arial" pitchFamily="34" charset="0"/>
                <a:ea typeface="Arial" pitchFamily="34" charset="-122"/>
                <a:cs typeface="Arial" pitchFamily="34" charset="-120"/>
              </a:rPr>
              <a:t>→</a:t>
            </a:r>
            <a:endParaRPr lang="en-US" sz="2250" dirty="0"/>
          </a:p>
        </p:txBody>
      </p:sp>
      <p:sp>
        <p:nvSpPr>
          <p:cNvPr id="11" name="Shape 9"/>
          <p:cNvSpPr/>
          <p:nvPr/>
        </p:nvSpPr>
        <p:spPr>
          <a:xfrm>
            <a:off x="3321025" y="4817715"/>
            <a:ext cx="2287488" cy="2863900"/>
          </a:xfrm>
          <a:prstGeom prst="roundRect">
            <a:avLst>
              <a:gd name="adj" fmla="val 5830"/>
            </a:avLst>
          </a:prstGeom>
          <a:solidFill>
            <a:srgbClr val="FFFFFF"/>
          </a:solidFill>
          <a:ln w="9525">
            <a:solidFill>
              <a:srgbClr val="DCE3E7"/>
            </a:solidFill>
            <a:prstDash val="solid"/>
          </a:ln>
        </p:spPr>
      </p:sp>
      <p:sp>
        <p:nvSpPr>
          <p:cNvPr id="12" name="Text 10"/>
          <p:cNvSpPr/>
          <p:nvPr/>
        </p:nvSpPr>
        <p:spPr>
          <a:xfrm>
            <a:off x="3540100" y="5093940"/>
            <a:ext cx="2034272" cy="319088"/>
          </a:xfrm>
          <a:prstGeom prst="rect">
            <a:avLst/>
          </a:prstGeom>
          <a:noFill/>
          <a:ln/>
        </p:spPr>
        <p:txBody>
          <a:bodyPr wrap="square" lIns="25400" tIns="25400" rIns="25400" bIns="25400" rtlCol="0" anchor="t">
            <a:normAutofit/>
          </a:bodyPr>
          <a:lstStyle/>
          <a:p>
            <a:pPr algn="l" indent="0" marL="0">
              <a:buNone/>
            </a:pPr>
            <a:r>
              <a:rPr lang="en-US" sz="1950" b="1" dirty="0">
                <a:solidFill>
                  <a:srgbClr val="3B528B"/>
                </a:solidFill>
                <a:latin typeface="Courier New" pitchFamily="34" charset="0"/>
                <a:ea typeface="Courier New" pitchFamily="34" charset="-122"/>
                <a:cs typeface="Courier New" pitchFamily="34" charset="-120"/>
              </a:rPr>
              <a:t>02</a:t>
            </a:r>
            <a:endParaRPr lang="en-US" sz="1950" dirty="0"/>
          </a:p>
        </p:txBody>
      </p:sp>
      <p:sp>
        <p:nvSpPr>
          <p:cNvPr id="13" name="Text 11"/>
          <p:cNvSpPr/>
          <p:nvPr/>
        </p:nvSpPr>
        <p:spPr>
          <a:xfrm>
            <a:off x="3540100" y="5527328"/>
            <a:ext cx="1925538" cy="632371"/>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16293A"/>
                </a:solidFill>
                <a:latin typeface="Arial" pitchFamily="34" charset="0"/>
                <a:ea typeface="Arial" pitchFamily="34" charset="-122"/>
                <a:cs typeface="Arial" pitchFamily="34" charset="-120"/>
              </a:rPr>
              <a:t>Modifications &amp; DAR</a:t>
            </a:r>
            <a:endParaRPr lang="en-US" sz="1950" dirty="0"/>
          </a:p>
        </p:txBody>
      </p:sp>
      <p:sp>
        <p:nvSpPr>
          <p:cNvPr id="14" name="Text 12"/>
          <p:cNvSpPr/>
          <p:nvPr/>
        </p:nvSpPr>
        <p:spPr>
          <a:xfrm>
            <a:off x="3540100" y="6273998"/>
            <a:ext cx="1925538" cy="1169491"/>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63737F"/>
                </a:solidFill>
                <a:latin typeface="Arial" pitchFamily="34" charset="0"/>
                <a:ea typeface="Arial" pitchFamily="34" charset="-122"/>
                <a:cs typeface="Arial" pitchFamily="34" charset="-120"/>
              </a:rPr>
              <a:t>PTMs, payloads, DAR distribution, linker biotransformations.</a:t>
            </a:r>
            <a:endParaRPr lang="en-US" sz="1650" dirty="0"/>
          </a:p>
        </p:txBody>
      </p:sp>
      <p:sp>
        <p:nvSpPr>
          <p:cNvPr id="15" name="Text 13"/>
          <p:cNvSpPr/>
          <p:nvPr/>
        </p:nvSpPr>
        <p:spPr>
          <a:xfrm>
            <a:off x="5741863" y="6066309"/>
            <a:ext cx="3619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9FB0BA"/>
                </a:solidFill>
                <a:latin typeface="Arial" pitchFamily="34" charset="0"/>
                <a:ea typeface="Arial" pitchFamily="34" charset="-122"/>
                <a:cs typeface="Arial" pitchFamily="34" charset="-120"/>
              </a:rPr>
              <a:t>→</a:t>
            </a:r>
            <a:endParaRPr lang="en-US" sz="2250" dirty="0"/>
          </a:p>
        </p:txBody>
      </p:sp>
      <p:sp>
        <p:nvSpPr>
          <p:cNvPr id="16" name="Shape 14"/>
          <p:cNvSpPr/>
          <p:nvPr/>
        </p:nvSpPr>
        <p:spPr>
          <a:xfrm>
            <a:off x="6160963" y="4534867"/>
            <a:ext cx="1720900" cy="3429595"/>
          </a:xfrm>
          <a:prstGeom prst="roundRect">
            <a:avLst>
              <a:gd name="adj" fmla="val 7749"/>
            </a:avLst>
          </a:prstGeom>
          <a:solidFill>
            <a:srgbClr val="FFFFFF"/>
          </a:solidFill>
          <a:ln w="9525">
            <a:solidFill>
              <a:srgbClr val="DCE3E7"/>
            </a:solidFill>
            <a:prstDash val="solid"/>
          </a:ln>
        </p:spPr>
      </p:sp>
      <p:sp>
        <p:nvSpPr>
          <p:cNvPr id="17" name="Text 15"/>
          <p:cNvSpPr/>
          <p:nvPr/>
        </p:nvSpPr>
        <p:spPr>
          <a:xfrm>
            <a:off x="6380038" y="4811092"/>
            <a:ext cx="1411025" cy="319088"/>
          </a:xfrm>
          <a:prstGeom prst="rect">
            <a:avLst/>
          </a:prstGeom>
          <a:noFill/>
          <a:ln/>
        </p:spPr>
        <p:txBody>
          <a:bodyPr wrap="square" lIns="25400" tIns="25400" rIns="25400" bIns="25400" rtlCol="0" anchor="t">
            <a:normAutofit/>
          </a:bodyPr>
          <a:lstStyle/>
          <a:p>
            <a:pPr algn="l" indent="0" marL="0">
              <a:buNone/>
            </a:pPr>
            <a:r>
              <a:rPr lang="en-US" sz="1950" b="1" dirty="0">
                <a:solidFill>
                  <a:srgbClr val="21918C"/>
                </a:solidFill>
                <a:latin typeface="Courier New" pitchFamily="34" charset="0"/>
                <a:ea typeface="Courier New" pitchFamily="34" charset="-122"/>
                <a:cs typeface="Courier New" pitchFamily="34" charset="-120"/>
              </a:rPr>
              <a:t>03</a:t>
            </a:r>
            <a:endParaRPr lang="en-US" sz="1950" dirty="0"/>
          </a:p>
        </p:txBody>
      </p:sp>
      <p:sp>
        <p:nvSpPr>
          <p:cNvPr id="18" name="Text 16"/>
          <p:cNvSpPr/>
          <p:nvPr/>
        </p:nvSpPr>
        <p:spPr>
          <a:xfrm>
            <a:off x="6380038" y="5244480"/>
            <a:ext cx="1358950" cy="632371"/>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16293A"/>
                </a:solidFill>
                <a:latin typeface="Arial" pitchFamily="34" charset="0"/>
                <a:ea typeface="Arial" pitchFamily="34" charset="-122"/>
                <a:cs typeface="Arial" pitchFamily="34" charset="-120"/>
              </a:rPr>
              <a:t>Results &amp; Coverage</a:t>
            </a:r>
            <a:endParaRPr lang="en-US" sz="1950" dirty="0"/>
          </a:p>
        </p:txBody>
      </p:sp>
      <p:sp>
        <p:nvSpPr>
          <p:cNvPr id="19" name="Text 17"/>
          <p:cNvSpPr/>
          <p:nvPr/>
        </p:nvSpPr>
        <p:spPr>
          <a:xfrm>
            <a:off x="6380038" y="5991151"/>
            <a:ext cx="1358950" cy="1735187"/>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63737F"/>
                </a:solidFill>
                <a:latin typeface="Arial" pitchFamily="34" charset="0"/>
                <a:ea typeface="Arial" pitchFamily="34" charset="-122"/>
                <a:cs typeface="Arial" pitchFamily="34" charset="-120"/>
              </a:rPr>
              <a:t>Peptide table, coverage map, cross-species uniqueness.</a:t>
            </a:r>
            <a:endParaRPr lang="en-US" sz="1650" dirty="0"/>
          </a:p>
        </p:txBody>
      </p:sp>
      <p:sp>
        <p:nvSpPr>
          <p:cNvPr id="20" name="Text 18"/>
          <p:cNvSpPr/>
          <p:nvPr/>
        </p:nvSpPr>
        <p:spPr>
          <a:xfrm>
            <a:off x="8015213" y="6066309"/>
            <a:ext cx="3619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9FB0BA"/>
                </a:solidFill>
                <a:latin typeface="Arial" pitchFamily="34" charset="0"/>
                <a:ea typeface="Arial" pitchFamily="34" charset="-122"/>
                <a:cs typeface="Arial" pitchFamily="34" charset="-120"/>
              </a:rPr>
              <a:t>→</a:t>
            </a:r>
            <a:endParaRPr lang="en-US" sz="2250" dirty="0"/>
          </a:p>
        </p:txBody>
      </p:sp>
      <p:sp>
        <p:nvSpPr>
          <p:cNvPr id="21" name="Shape 19"/>
          <p:cNvSpPr/>
          <p:nvPr/>
        </p:nvSpPr>
        <p:spPr>
          <a:xfrm>
            <a:off x="8434313" y="4534867"/>
            <a:ext cx="1720825" cy="3429595"/>
          </a:xfrm>
          <a:prstGeom prst="roundRect">
            <a:avLst>
              <a:gd name="adj" fmla="val 7749"/>
            </a:avLst>
          </a:prstGeom>
          <a:solidFill>
            <a:srgbClr val="FFFFFF"/>
          </a:solidFill>
          <a:ln w="9525">
            <a:solidFill>
              <a:srgbClr val="DCE3E7"/>
            </a:solidFill>
            <a:prstDash val="solid"/>
          </a:ln>
        </p:spPr>
      </p:sp>
      <p:sp>
        <p:nvSpPr>
          <p:cNvPr id="22" name="Text 20"/>
          <p:cNvSpPr/>
          <p:nvPr/>
        </p:nvSpPr>
        <p:spPr>
          <a:xfrm>
            <a:off x="8653388" y="4811092"/>
            <a:ext cx="1410943" cy="319088"/>
          </a:xfrm>
          <a:prstGeom prst="rect">
            <a:avLst/>
          </a:prstGeom>
          <a:noFill/>
          <a:ln/>
        </p:spPr>
        <p:txBody>
          <a:bodyPr wrap="square" lIns="25400" tIns="25400" rIns="25400" bIns="25400" rtlCol="0" anchor="t">
            <a:normAutofit/>
          </a:bodyPr>
          <a:lstStyle/>
          <a:p>
            <a:pPr algn="l" indent="0" marL="0">
              <a:buNone/>
            </a:pPr>
            <a:r>
              <a:rPr lang="en-US" sz="1950" b="1" dirty="0">
                <a:solidFill>
                  <a:srgbClr val="2F9E6F"/>
                </a:solidFill>
                <a:latin typeface="Courier New" pitchFamily="34" charset="0"/>
                <a:ea typeface="Courier New" pitchFamily="34" charset="-122"/>
                <a:cs typeface="Courier New" pitchFamily="34" charset="-120"/>
              </a:rPr>
              <a:t>04</a:t>
            </a:r>
            <a:endParaRPr lang="en-US" sz="1950" dirty="0"/>
          </a:p>
        </p:txBody>
      </p:sp>
      <p:sp>
        <p:nvSpPr>
          <p:cNvPr id="23" name="Text 21"/>
          <p:cNvSpPr/>
          <p:nvPr/>
        </p:nvSpPr>
        <p:spPr>
          <a:xfrm>
            <a:off x="8653388" y="5244480"/>
            <a:ext cx="1358875" cy="632371"/>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16293A"/>
                </a:solidFill>
                <a:latin typeface="Arial" pitchFamily="34" charset="0"/>
                <a:ea typeface="Arial" pitchFamily="34" charset="-122"/>
                <a:cs typeface="Arial" pitchFamily="34" charset="-120"/>
              </a:rPr>
              <a:t>Transition List</a:t>
            </a:r>
            <a:endParaRPr lang="en-US" sz="1950" dirty="0"/>
          </a:p>
        </p:txBody>
      </p:sp>
      <p:sp>
        <p:nvSpPr>
          <p:cNvPr id="24" name="Text 22"/>
          <p:cNvSpPr/>
          <p:nvPr/>
        </p:nvSpPr>
        <p:spPr>
          <a:xfrm>
            <a:off x="8653388" y="5991151"/>
            <a:ext cx="1358875" cy="1735187"/>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63737F"/>
                </a:solidFill>
                <a:latin typeface="Arial" pitchFamily="34" charset="0"/>
                <a:ea typeface="Arial" pitchFamily="34" charset="-122"/>
                <a:cs typeface="Arial" pitchFamily="34" charset="-120"/>
              </a:rPr>
              <a:t>Per-instrument MRM/DIA lists and collision energies.</a:t>
            </a:r>
            <a:endParaRPr lang="en-US" sz="1650" dirty="0"/>
          </a:p>
        </p:txBody>
      </p:sp>
      <p:sp>
        <p:nvSpPr>
          <p:cNvPr id="25" name="Text 23"/>
          <p:cNvSpPr/>
          <p:nvPr/>
        </p:nvSpPr>
        <p:spPr>
          <a:xfrm>
            <a:off x="10288488" y="6066309"/>
            <a:ext cx="3619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9FB0BA"/>
                </a:solidFill>
                <a:latin typeface="Arial" pitchFamily="34" charset="0"/>
                <a:ea typeface="Arial" pitchFamily="34" charset="-122"/>
                <a:cs typeface="Arial" pitchFamily="34" charset="-120"/>
              </a:rPr>
              <a:t>→</a:t>
            </a:r>
            <a:endParaRPr lang="en-US" sz="2250" dirty="0"/>
          </a:p>
        </p:txBody>
      </p:sp>
      <p:sp>
        <p:nvSpPr>
          <p:cNvPr id="26" name="Shape 24"/>
          <p:cNvSpPr/>
          <p:nvPr/>
        </p:nvSpPr>
        <p:spPr>
          <a:xfrm>
            <a:off x="10707588" y="4676329"/>
            <a:ext cx="1720900" cy="3146747"/>
          </a:xfrm>
          <a:prstGeom prst="roundRect">
            <a:avLst>
              <a:gd name="adj" fmla="val 7749"/>
            </a:avLst>
          </a:prstGeom>
          <a:solidFill>
            <a:srgbClr val="FFFFFF"/>
          </a:solidFill>
          <a:ln w="9525">
            <a:solidFill>
              <a:srgbClr val="DCE3E7"/>
            </a:solidFill>
            <a:prstDash val="solid"/>
          </a:ln>
        </p:spPr>
      </p:sp>
      <p:sp>
        <p:nvSpPr>
          <p:cNvPr id="27" name="Text 25"/>
          <p:cNvSpPr/>
          <p:nvPr/>
        </p:nvSpPr>
        <p:spPr>
          <a:xfrm>
            <a:off x="10926663" y="4952554"/>
            <a:ext cx="1411025" cy="319088"/>
          </a:xfrm>
          <a:prstGeom prst="rect">
            <a:avLst/>
          </a:prstGeom>
          <a:noFill/>
          <a:ln/>
        </p:spPr>
        <p:txBody>
          <a:bodyPr wrap="square" lIns="25400" tIns="25400" rIns="25400" bIns="25400" rtlCol="0" anchor="t">
            <a:normAutofit/>
          </a:bodyPr>
          <a:lstStyle/>
          <a:p>
            <a:pPr algn="l" indent="0" marL="0">
              <a:buNone/>
            </a:pPr>
            <a:r>
              <a:rPr lang="en-US" sz="1950" b="1" dirty="0">
                <a:solidFill>
                  <a:srgbClr val="5EC962"/>
                </a:solidFill>
                <a:latin typeface="Courier New" pitchFamily="34" charset="0"/>
                <a:ea typeface="Courier New" pitchFamily="34" charset="-122"/>
                <a:cs typeface="Courier New" pitchFamily="34" charset="-120"/>
              </a:rPr>
              <a:t>05</a:t>
            </a:r>
            <a:endParaRPr lang="en-US" sz="1950" dirty="0"/>
          </a:p>
        </p:txBody>
      </p:sp>
      <p:sp>
        <p:nvSpPr>
          <p:cNvPr id="28" name="Text 26"/>
          <p:cNvSpPr/>
          <p:nvPr/>
        </p:nvSpPr>
        <p:spPr>
          <a:xfrm>
            <a:off x="10926663" y="5385941"/>
            <a:ext cx="1358950" cy="632371"/>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16293A"/>
                </a:solidFill>
                <a:latin typeface="Arial" pitchFamily="34" charset="0"/>
                <a:ea typeface="Arial" pitchFamily="34" charset="-122"/>
                <a:cs typeface="Arial" pitchFamily="34" charset="-120"/>
              </a:rPr>
              <a:t>Heavy Labelling</a:t>
            </a:r>
            <a:endParaRPr lang="en-US" sz="1950" dirty="0"/>
          </a:p>
        </p:txBody>
      </p:sp>
      <p:sp>
        <p:nvSpPr>
          <p:cNvPr id="29" name="Text 27"/>
          <p:cNvSpPr/>
          <p:nvPr/>
        </p:nvSpPr>
        <p:spPr>
          <a:xfrm>
            <a:off x="10926663" y="6132612"/>
            <a:ext cx="1358950" cy="1452339"/>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63737F"/>
                </a:solidFill>
                <a:latin typeface="Arial" pitchFamily="34" charset="0"/>
                <a:ea typeface="Arial" pitchFamily="34" charset="-122"/>
                <a:cs typeface="Arial" pitchFamily="34" charset="-120"/>
              </a:rPr>
              <a:t>SIL light/heavy peptide pairs for quantitation.</a:t>
            </a:r>
            <a:endParaRPr lang="en-US" sz="1650" dirty="0"/>
          </a:p>
        </p:txBody>
      </p:sp>
      <p:sp>
        <p:nvSpPr>
          <p:cNvPr id="30" name="Text 28"/>
          <p:cNvSpPr/>
          <p:nvPr/>
        </p:nvSpPr>
        <p:spPr>
          <a:xfrm>
            <a:off x="12561838" y="6066309"/>
            <a:ext cx="3619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9FB0BA"/>
                </a:solidFill>
                <a:latin typeface="Arial" pitchFamily="34" charset="0"/>
                <a:ea typeface="Arial" pitchFamily="34" charset="-122"/>
                <a:cs typeface="Arial" pitchFamily="34" charset="-120"/>
              </a:rPr>
              <a:t>→</a:t>
            </a:r>
            <a:endParaRPr lang="en-US" sz="2250" dirty="0"/>
          </a:p>
        </p:txBody>
      </p:sp>
      <p:sp>
        <p:nvSpPr>
          <p:cNvPr id="31" name="Shape 29"/>
          <p:cNvSpPr/>
          <p:nvPr/>
        </p:nvSpPr>
        <p:spPr>
          <a:xfrm>
            <a:off x="12980938" y="4817715"/>
            <a:ext cx="1720825" cy="2863900"/>
          </a:xfrm>
          <a:prstGeom prst="roundRect">
            <a:avLst>
              <a:gd name="adj" fmla="val 7749"/>
            </a:avLst>
          </a:prstGeom>
          <a:solidFill>
            <a:srgbClr val="FFFFFF"/>
          </a:solidFill>
          <a:ln w="9525">
            <a:solidFill>
              <a:srgbClr val="DCE3E7"/>
            </a:solidFill>
            <a:prstDash val="solid"/>
          </a:ln>
        </p:spPr>
      </p:sp>
      <p:sp>
        <p:nvSpPr>
          <p:cNvPr id="32" name="Text 30"/>
          <p:cNvSpPr/>
          <p:nvPr/>
        </p:nvSpPr>
        <p:spPr>
          <a:xfrm>
            <a:off x="13200013" y="5093940"/>
            <a:ext cx="1410943" cy="319088"/>
          </a:xfrm>
          <a:prstGeom prst="rect">
            <a:avLst/>
          </a:prstGeom>
          <a:noFill/>
          <a:ln/>
        </p:spPr>
        <p:txBody>
          <a:bodyPr wrap="square" lIns="25400" tIns="25400" rIns="25400" bIns="25400" rtlCol="0" anchor="t">
            <a:normAutofit/>
          </a:bodyPr>
          <a:lstStyle/>
          <a:p>
            <a:pPr algn="l" indent="0" marL="0">
              <a:buNone/>
            </a:pPr>
            <a:r>
              <a:rPr lang="en-US" sz="1950" b="1" dirty="0">
                <a:solidFill>
                  <a:srgbClr val="94B13A"/>
                </a:solidFill>
                <a:latin typeface="Courier New" pitchFamily="34" charset="0"/>
                <a:ea typeface="Courier New" pitchFamily="34" charset="-122"/>
                <a:cs typeface="Courier New" pitchFamily="34" charset="-120"/>
              </a:rPr>
              <a:t>06</a:t>
            </a:r>
            <a:endParaRPr lang="en-US" sz="1950" dirty="0"/>
          </a:p>
        </p:txBody>
      </p:sp>
      <p:sp>
        <p:nvSpPr>
          <p:cNvPr id="33" name="Text 31"/>
          <p:cNvSpPr/>
          <p:nvPr/>
        </p:nvSpPr>
        <p:spPr>
          <a:xfrm>
            <a:off x="13200013" y="5527328"/>
            <a:ext cx="1358875" cy="632371"/>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16293A"/>
                </a:solidFill>
                <a:latin typeface="Arial" pitchFamily="34" charset="0"/>
                <a:ea typeface="Arial" pitchFamily="34" charset="-122"/>
                <a:cs typeface="Arial" pitchFamily="34" charset="-120"/>
              </a:rPr>
              <a:t>MS/MS Search</a:t>
            </a:r>
            <a:endParaRPr lang="en-US" sz="1950" dirty="0"/>
          </a:p>
        </p:txBody>
      </p:sp>
      <p:sp>
        <p:nvSpPr>
          <p:cNvPr id="34" name="Text 32"/>
          <p:cNvSpPr/>
          <p:nvPr/>
        </p:nvSpPr>
        <p:spPr>
          <a:xfrm>
            <a:off x="13200013" y="6273998"/>
            <a:ext cx="1358875" cy="1169491"/>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63737F"/>
                </a:solidFill>
                <a:latin typeface="Arial" pitchFamily="34" charset="0"/>
                <a:ea typeface="Arial" pitchFamily="34" charset="-122"/>
                <a:cs typeface="Arial" pitchFamily="34" charset="-120"/>
              </a:rPr>
              <a:t>MS Amanda / Tide with target–decoy FDR.</a:t>
            </a:r>
            <a:endParaRPr lang="en-US" sz="1650" dirty="0"/>
          </a:p>
        </p:txBody>
      </p:sp>
      <p:sp>
        <p:nvSpPr>
          <p:cNvPr id="35" name="Text 33"/>
          <p:cNvSpPr/>
          <p:nvPr/>
        </p:nvSpPr>
        <p:spPr>
          <a:xfrm>
            <a:off x="14835113" y="6066309"/>
            <a:ext cx="361950" cy="404813"/>
          </a:xfrm>
          <a:prstGeom prst="rect">
            <a:avLst/>
          </a:prstGeom>
          <a:noFill/>
          <a:ln/>
        </p:spPr>
        <p:txBody>
          <a:bodyPr wrap="square" lIns="25400" tIns="25400" rIns="25400" bIns="25400" rtlCol="0" anchor="t">
            <a:normAutofit/>
          </a:bodyPr>
          <a:lstStyle/>
          <a:p>
            <a:pPr algn="l" indent="0" marL="0">
              <a:buNone/>
            </a:pPr>
            <a:r>
              <a:rPr lang="en-US" sz="2250" dirty="0">
                <a:solidFill>
                  <a:srgbClr val="9FB0BA"/>
                </a:solidFill>
                <a:latin typeface="Arial" pitchFamily="34" charset="0"/>
                <a:ea typeface="Arial" pitchFamily="34" charset="-122"/>
                <a:cs typeface="Arial" pitchFamily="34" charset="-120"/>
              </a:rPr>
              <a:t>→</a:t>
            </a:r>
            <a:endParaRPr lang="en-US" sz="2250" dirty="0"/>
          </a:p>
        </p:txBody>
      </p:sp>
      <p:sp>
        <p:nvSpPr>
          <p:cNvPr id="36" name="Shape 34"/>
          <p:cNvSpPr/>
          <p:nvPr/>
        </p:nvSpPr>
        <p:spPr>
          <a:xfrm>
            <a:off x="15254213" y="4820915"/>
            <a:ext cx="1986037" cy="2857500"/>
          </a:xfrm>
          <a:prstGeom prst="roundRect">
            <a:avLst>
              <a:gd name="adj" fmla="val 6714"/>
            </a:avLst>
          </a:prstGeom>
          <a:solidFill>
            <a:srgbClr val="16293A"/>
          </a:solidFill>
          <a:ln w="9525">
            <a:solidFill>
              <a:srgbClr val="16293A"/>
            </a:solidFill>
            <a:prstDash val="solid"/>
          </a:ln>
        </p:spPr>
      </p:sp>
      <p:sp>
        <p:nvSpPr>
          <p:cNvPr id="37" name="Text 35"/>
          <p:cNvSpPr/>
          <p:nvPr/>
        </p:nvSpPr>
        <p:spPr>
          <a:xfrm>
            <a:off x="15473288" y="5097140"/>
            <a:ext cx="1702676" cy="319088"/>
          </a:xfrm>
          <a:prstGeom prst="rect">
            <a:avLst/>
          </a:prstGeom>
          <a:noFill/>
          <a:ln/>
        </p:spPr>
        <p:txBody>
          <a:bodyPr wrap="square" lIns="25400" tIns="25400" rIns="25400" bIns="25400" rtlCol="0" anchor="t">
            <a:normAutofit/>
          </a:bodyPr>
          <a:lstStyle/>
          <a:p>
            <a:pPr algn="l" indent="0" marL="0">
              <a:buNone/>
            </a:pPr>
            <a:r>
              <a:rPr lang="en-US" sz="1950" b="1" dirty="0">
                <a:solidFill>
                  <a:srgbClr val="5EC9A0"/>
                </a:solidFill>
                <a:latin typeface="Courier New" pitchFamily="34" charset="0"/>
                <a:ea typeface="Courier New" pitchFamily="34" charset="-122"/>
                <a:cs typeface="Courier New" pitchFamily="34" charset="-120"/>
              </a:rPr>
              <a:t>07</a:t>
            </a:r>
            <a:endParaRPr lang="en-US" sz="1950" dirty="0"/>
          </a:p>
        </p:txBody>
      </p:sp>
      <p:sp>
        <p:nvSpPr>
          <p:cNvPr id="38" name="Text 36"/>
          <p:cNvSpPr/>
          <p:nvPr/>
        </p:nvSpPr>
        <p:spPr>
          <a:xfrm>
            <a:off x="15473288" y="5530528"/>
            <a:ext cx="1702676" cy="335235"/>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EEF2F4"/>
                </a:solidFill>
                <a:latin typeface="Arial" pitchFamily="34" charset="0"/>
                <a:ea typeface="Arial" pitchFamily="34" charset="-122"/>
                <a:cs typeface="Arial" pitchFamily="34" charset="-120"/>
              </a:rPr>
              <a:t>AI Assistant</a:t>
            </a:r>
            <a:endParaRPr lang="en-US" sz="1950" dirty="0"/>
          </a:p>
        </p:txBody>
      </p:sp>
      <p:sp>
        <p:nvSpPr>
          <p:cNvPr id="39" name="Text 37"/>
          <p:cNvSpPr/>
          <p:nvPr/>
        </p:nvSpPr>
        <p:spPr>
          <a:xfrm>
            <a:off x="15473288" y="5980063"/>
            <a:ext cx="1624087" cy="1169491"/>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A9BAC4"/>
                </a:solidFill>
                <a:latin typeface="Arial" pitchFamily="34" charset="0"/>
                <a:ea typeface="Arial" pitchFamily="34" charset="-122"/>
                <a:cs typeface="Arial" pitchFamily="34" charset="-120"/>
              </a:rPr>
              <a:t>Claude chat with live ADC/proteomics context.</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1F7A6D"/>
                </a:solidFill>
                <a:latin typeface="Courier New" pitchFamily="34" charset="0"/>
                <a:ea typeface="Courier New" pitchFamily="34" charset="-122"/>
                <a:cs typeface="Courier New" pitchFamily="34" charset="-120"/>
              </a:rPr>
              <a:t>STEPS 01–02 · DIGESTION</a:t>
            </a:r>
            <a:endParaRPr lang="en-US" sz="1800" dirty="0"/>
          </a:p>
        </p:txBody>
      </p:sp>
      <p:sp>
        <p:nvSpPr>
          <p:cNvPr id="3" name="Shape 1"/>
          <p:cNvSpPr/>
          <p:nvPr/>
        </p:nvSpPr>
        <p:spPr>
          <a:xfrm>
            <a:off x="1047750" y="1247775"/>
            <a:ext cx="1257300" cy="57150"/>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4" name="Text 2"/>
          <p:cNvSpPr/>
          <p:nvPr/>
        </p:nvSpPr>
        <p:spPr>
          <a:xfrm>
            <a:off x="1047750" y="1495425"/>
            <a:ext cx="1781175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6293A"/>
                </a:solidFill>
                <a:latin typeface="Arial" pitchFamily="34" charset="0"/>
                <a:ea typeface="Arial" pitchFamily="34" charset="-122"/>
                <a:cs typeface="Arial" pitchFamily="34" charset="-120"/>
              </a:rPr>
              <a:t>The digest engine</a:t>
            </a:r>
            <a:endParaRPr lang="en-US" sz="4800" dirty="0"/>
          </a:p>
        </p:txBody>
      </p:sp>
      <p:sp>
        <p:nvSpPr>
          <p:cNvPr id="5" name="Text 3"/>
          <p:cNvSpPr/>
          <p:nvPr/>
        </p:nvSpPr>
        <p:spPr>
          <a:xfrm>
            <a:off x="1047750" y="4558978"/>
            <a:ext cx="1509006" cy="1066800"/>
          </a:xfrm>
          <a:prstGeom prst="rect">
            <a:avLst/>
          </a:prstGeom>
          <a:noFill/>
          <a:ln/>
        </p:spPr>
        <p:txBody>
          <a:bodyPr wrap="square" lIns="25400" tIns="25400" rIns="25400" bIns="25400" rtlCol="0" anchor="t">
            <a:normAutofit/>
          </a:bodyPr>
          <a:lstStyle/>
          <a:p>
            <a:pPr algn="l" indent="0" marL="0">
              <a:lnSpc>
                <a:spcPct val="90000"/>
              </a:lnSpc>
              <a:buNone/>
            </a:pPr>
            <a:r>
              <a:rPr lang="en-US" sz="9000" b="1" dirty="0">
                <a:solidFill>
                  <a:srgbClr val="16293A"/>
                </a:solidFill>
                <a:latin typeface="Courier New" pitchFamily="34" charset="0"/>
                <a:ea typeface="Courier New" pitchFamily="34" charset="-122"/>
                <a:cs typeface="Courier New" pitchFamily="34" charset="-120"/>
              </a:rPr>
              <a:t>11</a:t>
            </a:r>
            <a:endParaRPr lang="en-US" sz="9000" dirty="0"/>
          </a:p>
        </p:txBody>
      </p:sp>
      <p:sp>
        <p:nvSpPr>
          <p:cNvPr id="6" name="Text 4"/>
          <p:cNvSpPr/>
          <p:nvPr/>
        </p:nvSpPr>
        <p:spPr>
          <a:xfrm>
            <a:off x="2591023" y="5063803"/>
            <a:ext cx="1520875" cy="438150"/>
          </a:xfrm>
          <a:prstGeom prst="rect">
            <a:avLst/>
          </a:prstGeom>
          <a:noFill/>
          <a:ln/>
        </p:spPr>
        <p:txBody>
          <a:bodyPr wrap="square" lIns="25400" tIns="25400" rIns="25400" bIns="25400" rtlCol="0" anchor="t">
            <a:normAutofit/>
          </a:bodyPr>
          <a:lstStyle/>
          <a:p>
            <a:pPr algn="l" indent="0" marL="0">
              <a:buNone/>
            </a:pPr>
            <a:r>
              <a:rPr lang="en-US" sz="2400" dirty="0">
                <a:solidFill>
                  <a:srgbClr val="4A5C6A"/>
                </a:solidFill>
                <a:latin typeface="Arial" pitchFamily="34" charset="0"/>
                <a:ea typeface="Arial" pitchFamily="34" charset="-122"/>
                <a:cs typeface="Arial" pitchFamily="34" charset="-120"/>
              </a:rPr>
              <a:t>proteases</a:t>
            </a:r>
            <a:endParaRPr lang="en-US" sz="2400" dirty="0"/>
          </a:p>
        </p:txBody>
      </p:sp>
      <p:sp>
        <p:nvSpPr>
          <p:cNvPr id="7" name="Shape 5"/>
          <p:cNvSpPr/>
          <p:nvPr/>
        </p:nvSpPr>
        <p:spPr>
          <a:xfrm>
            <a:off x="1047750" y="5835328"/>
            <a:ext cx="1322115" cy="485775"/>
          </a:xfrm>
          <a:prstGeom prst="roundRect">
            <a:avLst>
              <a:gd name="adj" fmla="val 50000"/>
            </a:avLst>
          </a:prstGeom>
          <a:solidFill>
            <a:srgbClr val="FFFFFF"/>
          </a:solidFill>
          <a:ln w="9525">
            <a:solidFill>
              <a:srgbClr val="DCE3E7"/>
            </a:solidFill>
            <a:prstDash val="solid"/>
          </a:ln>
        </p:spPr>
      </p:sp>
      <p:sp>
        <p:nvSpPr>
          <p:cNvPr id="8" name="Text 6"/>
          <p:cNvSpPr/>
          <p:nvPr/>
        </p:nvSpPr>
        <p:spPr>
          <a:xfrm>
            <a:off x="1228725" y="5930578"/>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Trypsin</a:t>
            </a:r>
            <a:endParaRPr lang="en-US" sz="1800" dirty="0"/>
          </a:p>
        </p:txBody>
      </p:sp>
      <p:sp>
        <p:nvSpPr>
          <p:cNvPr id="9" name="Shape 7"/>
          <p:cNvSpPr/>
          <p:nvPr/>
        </p:nvSpPr>
        <p:spPr>
          <a:xfrm>
            <a:off x="2484165" y="5835328"/>
            <a:ext cx="1596405" cy="485775"/>
          </a:xfrm>
          <a:prstGeom prst="roundRect">
            <a:avLst>
              <a:gd name="adj" fmla="val 50000"/>
            </a:avLst>
          </a:prstGeom>
          <a:solidFill>
            <a:srgbClr val="FFFFFF"/>
          </a:solidFill>
          <a:ln w="9525">
            <a:solidFill>
              <a:srgbClr val="DCE3E7"/>
            </a:solidFill>
            <a:prstDash val="solid"/>
          </a:ln>
        </p:spPr>
      </p:sp>
      <p:sp>
        <p:nvSpPr>
          <p:cNvPr id="10" name="Text 8"/>
          <p:cNvSpPr/>
          <p:nvPr/>
        </p:nvSpPr>
        <p:spPr>
          <a:xfrm>
            <a:off x="2665140" y="5930578"/>
            <a:ext cx="13106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Trypsin/P</a:t>
            </a:r>
            <a:endParaRPr lang="en-US" sz="1800" dirty="0"/>
          </a:p>
        </p:txBody>
      </p:sp>
      <p:sp>
        <p:nvSpPr>
          <p:cNvPr id="11" name="Shape 9"/>
          <p:cNvSpPr/>
          <p:nvPr/>
        </p:nvSpPr>
        <p:spPr>
          <a:xfrm>
            <a:off x="4194870" y="5835328"/>
            <a:ext cx="1047750" cy="485775"/>
          </a:xfrm>
          <a:prstGeom prst="roundRect">
            <a:avLst>
              <a:gd name="adj" fmla="val 50000"/>
            </a:avLst>
          </a:prstGeom>
          <a:solidFill>
            <a:srgbClr val="FFFFFF"/>
          </a:solidFill>
          <a:ln w="9525">
            <a:solidFill>
              <a:srgbClr val="DCE3E7"/>
            </a:solidFill>
            <a:prstDash val="solid"/>
          </a:ln>
        </p:spPr>
      </p:sp>
      <p:sp>
        <p:nvSpPr>
          <p:cNvPr id="12" name="Text 10"/>
          <p:cNvSpPr/>
          <p:nvPr/>
        </p:nvSpPr>
        <p:spPr>
          <a:xfrm>
            <a:off x="4375845" y="5930578"/>
            <a:ext cx="7620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Lys-C</a:t>
            </a:r>
            <a:endParaRPr lang="en-US" sz="1800" dirty="0"/>
          </a:p>
        </p:txBody>
      </p:sp>
      <p:sp>
        <p:nvSpPr>
          <p:cNvPr id="13" name="Shape 11"/>
          <p:cNvSpPr/>
          <p:nvPr/>
        </p:nvSpPr>
        <p:spPr>
          <a:xfrm>
            <a:off x="5356920" y="5835328"/>
            <a:ext cx="1322115" cy="485775"/>
          </a:xfrm>
          <a:prstGeom prst="roundRect">
            <a:avLst>
              <a:gd name="adj" fmla="val 50000"/>
            </a:avLst>
          </a:prstGeom>
          <a:solidFill>
            <a:srgbClr val="FFFFFF"/>
          </a:solidFill>
          <a:ln w="9525">
            <a:solidFill>
              <a:srgbClr val="DCE3E7"/>
            </a:solidFill>
            <a:prstDash val="solid"/>
          </a:ln>
        </p:spPr>
      </p:sp>
      <p:sp>
        <p:nvSpPr>
          <p:cNvPr id="14" name="Text 12"/>
          <p:cNvSpPr/>
          <p:nvPr/>
        </p:nvSpPr>
        <p:spPr>
          <a:xfrm>
            <a:off x="5537895" y="5930578"/>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Lys-C/P</a:t>
            </a:r>
            <a:endParaRPr lang="en-US" sz="1800" dirty="0"/>
          </a:p>
        </p:txBody>
      </p:sp>
      <p:sp>
        <p:nvSpPr>
          <p:cNvPr id="15" name="Shape 13"/>
          <p:cNvSpPr/>
          <p:nvPr/>
        </p:nvSpPr>
        <p:spPr>
          <a:xfrm>
            <a:off x="6793334" y="5835328"/>
            <a:ext cx="1047750" cy="485775"/>
          </a:xfrm>
          <a:prstGeom prst="roundRect">
            <a:avLst>
              <a:gd name="adj" fmla="val 50000"/>
            </a:avLst>
          </a:prstGeom>
          <a:solidFill>
            <a:srgbClr val="FFFFFF"/>
          </a:solidFill>
          <a:ln w="9525">
            <a:solidFill>
              <a:srgbClr val="DCE3E7"/>
            </a:solidFill>
            <a:prstDash val="solid"/>
          </a:ln>
        </p:spPr>
      </p:sp>
      <p:sp>
        <p:nvSpPr>
          <p:cNvPr id="16" name="Text 14"/>
          <p:cNvSpPr/>
          <p:nvPr/>
        </p:nvSpPr>
        <p:spPr>
          <a:xfrm>
            <a:off x="6974309" y="5930578"/>
            <a:ext cx="7620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Lys-N</a:t>
            </a:r>
            <a:endParaRPr lang="en-US" sz="1800" dirty="0"/>
          </a:p>
        </p:txBody>
      </p:sp>
      <p:sp>
        <p:nvSpPr>
          <p:cNvPr id="17" name="Shape 15"/>
          <p:cNvSpPr/>
          <p:nvPr/>
        </p:nvSpPr>
        <p:spPr>
          <a:xfrm>
            <a:off x="1047750" y="6435403"/>
            <a:ext cx="1047750" cy="485775"/>
          </a:xfrm>
          <a:prstGeom prst="roundRect">
            <a:avLst>
              <a:gd name="adj" fmla="val 50000"/>
            </a:avLst>
          </a:prstGeom>
          <a:solidFill>
            <a:srgbClr val="FFFFFF"/>
          </a:solidFill>
          <a:ln w="9525">
            <a:solidFill>
              <a:srgbClr val="DCE3E7"/>
            </a:solidFill>
            <a:prstDash val="solid"/>
          </a:ln>
        </p:spPr>
      </p:sp>
      <p:sp>
        <p:nvSpPr>
          <p:cNvPr id="18" name="Text 16"/>
          <p:cNvSpPr/>
          <p:nvPr/>
        </p:nvSpPr>
        <p:spPr>
          <a:xfrm>
            <a:off x="1228725" y="6530653"/>
            <a:ext cx="7620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Asp-N</a:t>
            </a:r>
            <a:endParaRPr lang="en-US" sz="1800" dirty="0"/>
          </a:p>
        </p:txBody>
      </p:sp>
      <p:sp>
        <p:nvSpPr>
          <p:cNvPr id="19" name="Shape 17"/>
          <p:cNvSpPr/>
          <p:nvPr/>
        </p:nvSpPr>
        <p:spPr>
          <a:xfrm>
            <a:off x="2209800" y="6435403"/>
            <a:ext cx="1047750" cy="485775"/>
          </a:xfrm>
          <a:prstGeom prst="roundRect">
            <a:avLst>
              <a:gd name="adj" fmla="val 50000"/>
            </a:avLst>
          </a:prstGeom>
          <a:solidFill>
            <a:srgbClr val="FFFFFF"/>
          </a:solidFill>
          <a:ln w="9525">
            <a:solidFill>
              <a:srgbClr val="DCE3E7"/>
            </a:solidFill>
            <a:prstDash val="solid"/>
          </a:ln>
        </p:spPr>
      </p:sp>
      <p:sp>
        <p:nvSpPr>
          <p:cNvPr id="20" name="Text 18"/>
          <p:cNvSpPr/>
          <p:nvPr/>
        </p:nvSpPr>
        <p:spPr>
          <a:xfrm>
            <a:off x="2390775" y="6530653"/>
            <a:ext cx="7620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Glu-C</a:t>
            </a:r>
            <a:endParaRPr lang="en-US" sz="1800" dirty="0"/>
          </a:p>
        </p:txBody>
      </p:sp>
      <p:sp>
        <p:nvSpPr>
          <p:cNvPr id="21" name="Shape 19"/>
          <p:cNvSpPr/>
          <p:nvPr/>
        </p:nvSpPr>
        <p:spPr>
          <a:xfrm>
            <a:off x="3371850" y="6435403"/>
            <a:ext cx="1047750" cy="485775"/>
          </a:xfrm>
          <a:prstGeom prst="roundRect">
            <a:avLst>
              <a:gd name="adj" fmla="val 50000"/>
            </a:avLst>
          </a:prstGeom>
          <a:solidFill>
            <a:srgbClr val="FFFFFF"/>
          </a:solidFill>
          <a:ln w="9525">
            <a:solidFill>
              <a:srgbClr val="DCE3E7"/>
            </a:solidFill>
            <a:prstDash val="solid"/>
          </a:ln>
        </p:spPr>
      </p:sp>
      <p:sp>
        <p:nvSpPr>
          <p:cNvPr id="22" name="Text 20"/>
          <p:cNvSpPr/>
          <p:nvPr/>
        </p:nvSpPr>
        <p:spPr>
          <a:xfrm>
            <a:off x="3552825" y="6530653"/>
            <a:ext cx="7620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Arg-C</a:t>
            </a:r>
            <a:endParaRPr lang="en-US" sz="1800" dirty="0"/>
          </a:p>
        </p:txBody>
      </p:sp>
      <p:sp>
        <p:nvSpPr>
          <p:cNvPr id="23" name="Shape 21"/>
          <p:cNvSpPr/>
          <p:nvPr/>
        </p:nvSpPr>
        <p:spPr>
          <a:xfrm>
            <a:off x="4533900" y="6435403"/>
            <a:ext cx="2007915" cy="485775"/>
          </a:xfrm>
          <a:prstGeom prst="roundRect">
            <a:avLst>
              <a:gd name="adj" fmla="val 50000"/>
            </a:avLst>
          </a:prstGeom>
          <a:solidFill>
            <a:srgbClr val="FFFFFF"/>
          </a:solidFill>
          <a:ln w="9525">
            <a:solidFill>
              <a:srgbClr val="DCE3E7"/>
            </a:solidFill>
            <a:prstDash val="solid"/>
          </a:ln>
        </p:spPr>
      </p:sp>
      <p:sp>
        <p:nvSpPr>
          <p:cNvPr id="24" name="Text 22"/>
          <p:cNvSpPr/>
          <p:nvPr/>
        </p:nvSpPr>
        <p:spPr>
          <a:xfrm>
            <a:off x="4714875" y="6530653"/>
            <a:ext cx="17221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Chymotrypsin</a:t>
            </a:r>
            <a:endParaRPr lang="en-US" sz="1800" dirty="0"/>
          </a:p>
        </p:txBody>
      </p:sp>
      <p:sp>
        <p:nvSpPr>
          <p:cNvPr id="25" name="Shape 23"/>
          <p:cNvSpPr/>
          <p:nvPr/>
        </p:nvSpPr>
        <p:spPr>
          <a:xfrm>
            <a:off x="6656115" y="6435403"/>
            <a:ext cx="1184970" cy="485775"/>
          </a:xfrm>
          <a:prstGeom prst="roundRect">
            <a:avLst>
              <a:gd name="adj" fmla="val 50000"/>
            </a:avLst>
          </a:prstGeom>
          <a:solidFill>
            <a:srgbClr val="FFFFFF"/>
          </a:solidFill>
          <a:ln w="9525">
            <a:solidFill>
              <a:srgbClr val="DCE3E7"/>
            </a:solidFill>
            <a:prstDash val="solid"/>
          </a:ln>
        </p:spPr>
      </p:sp>
      <p:sp>
        <p:nvSpPr>
          <p:cNvPr id="26" name="Text 24"/>
          <p:cNvSpPr/>
          <p:nvPr/>
        </p:nvSpPr>
        <p:spPr>
          <a:xfrm>
            <a:off x="6837090" y="6530653"/>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Papain</a:t>
            </a:r>
            <a:endParaRPr lang="en-US" sz="1800" dirty="0"/>
          </a:p>
        </p:txBody>
      </p:sp>
      <p:sp>
        <p:nvSpPr>
          <p:cNvPr id="27" name="Shape 25"/>
          <p:cNvSpPr/>
          <p:nvPr/>
        </p:nvSpPr>
        <p:spPr>
          <a:xfrm>
            <a:off x="1047750" y="7035478"/>
            <a:ext cx="1459260" cy="485775"/>
          </a:xfrm>
          <a:prstGeom prst="roundRect">
            <a:avLst>
              <a:gd name="adj" fmla="val 50000"/>
            </a:avLst>
          </a:prstGeom>
          <a:solidFill>
            <a:srgbClr val="FFFFFF"/>
          </a:solidFill>
          <a:ln w="9525">
            <a:solidFill>
              <a:srgbClr val="DCE3E7"/>
            </a:solidFill>
            <a:prstDash val="solid"/>
          </a:ln>
        </p:spPr>
      </p:sp>
      <p:sp>
        <p:nvSpPr>
          <p:cNvPr id="28" name="Text 26"/>
          <p:cNvSpPr/>
          <p:nvPr/>
        </p:nvSpPr>
        <p:spPr>
          <a:xfrm>
            <a:off x="1228725" y="7130728"/>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243C4D"/>
                </a:solidFill>
                <a:latin typeface="Courier New" pitchFamily="34" charset="0"/>
                <a:ea typeface="Courier New" pitchFamily="34" charset="-122"/>
                <a:cs typeface="Courier New" pitchFamily="34" charset="-120"/>
              </a:rPr>
              <a:t>Elastase</a:t>
            </a:r>
            <a:endParaRPr lang="en-US" sz="1800" dirty="0"/>
          </a:p>
        </p:txBody>
      </p:sp>
      <p:sp>
        <p:nvSpPr>
          <p:cNvPr id="29" name="Shape 27"/>
          <p:cNvSpPr/>
          <p:nvPr/>
        </p:nvSpPr>
        <p:spPr>
          <a:xfrm>
            <a:off x="8564835" y="3339405"/>
            <a:ext cx="8675415" cy="5401419"/>
          </a:xfrm>
          <a:prstGeom prst="roundRect">
            <a:avLst>
              <a:gd name="adj" fmla="val 2821"/>
            </a:avLst>
          </a:prstGeom>
          <a:solidFill>
            <a:srgbClr val="FFFFFF"/>
          </a:solidFill>
          <a:ln w="9525">
            <a:solidFill>
              <a:srgbClr val="DCE3E7"/>
            </a:solidFill>
            <a:prstDash val="solid"/>
          </a:ln>
        </p:spPr>
      </p:sp>
      <p:sp>
        <p:nvSpPr>
          <p:cNvPr id="30" name="Text 28"/>
          <p:cNvSpPr/>
          <p:nvPr/>
        </p:nvSpPr>
        <p:spPr>
          <a:xfrm>
            <a:off x="8955360" y="3710880"/>
            <a:ext cx="211113"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21918C"/>
                </a:solidFill>
                <a:latin typeface="Arial" pitchFamily="34" charset="0"/>
                <a:ea typeface="Arial" pitchFamily="34" charset="-122"/>
                <a:cs typeface="Arial" pitchFamily="34" charset="-120"/>
              </a:rPr>
              <a:t>▪</a:t>
            </a:r>
            <a:endParaRPr lang="en-US" sz="2100" dirty="0"/>
          </a:p>
        </p:txBody>
      </p:sp>
      <p:sp>
        <p:nvSpPr>
          <p:cNvPr id="31" name="Text 29"/>
          <p:cNvSpPr/>
          <p:nvPr/>
        </p:nvSpPr>
        <p:spPr>
          <a:xfrm>
            <a:off x="9242673" y="3710880"/>
            <a:ext cx="8119162" cy="402878"/>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25384A"/>
                </a:solidFill>
                <a:latin typeface="Arial" pitchFamily="34" charset="0"/>
                <a:ea typeface="Arial" pitchFamily="34" charset="-122"/>
                <a:cs typeface="Arial" pitchFamily="34" charset="-120"/>
              </a:rPr>
              <a:t>Optional second enzyme </a:t>
            </a:r>
            <a:pPr algn="l" indent="0" marL="0">
              <a:lnSpc>
                <a:spcPct val="135000"/>
              </a:lnSpc>
              <a:buNone/>
            </a:pPr>
            <a:r>
              <a:rPr lang="en-US" sz="2100" dirty="0">
                <a:solidFill>
                  <a:srgbClr val="25384A"/>
                </a:solidFill>
                <a:latin typeface="Arial" pitchFamily="34" charset="0"/>
                <a:ea typeface="Arial" pitchFamily="34" charset="-122"/>
                <a:cs typeface="Arial" pitchFamily="34" charset="-120"/>
              </a:rPr>
              <a:t>— sequential dual-enzyme digestion.</a:t>
            </a:r>
            <a:endParaRPr lang="en-US" sz="2100" dirty="0"/>
          </a:p>
        </p:txBody>
      </p:sp>
      <p:sp>
        <p:nvSpPr>
          <p:cNvPr id="32" name="Text 30"/>
          <p:cNvSpPr/>
          <p:nvPr/>
        </p:nvSpPr>
        <p:spPr>
          <a:xfrm>
            <a:off x="8955360" y="4304258"/>
            <a:ext cx="211113"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21918C"/>
                </a:solidFill>
                <a:latin typeface="Arial" pitchFamily="34" charset="0"/>
                <a:ea typeface="Arial" pitchFamily="34" charset="-122"/>
                <a:cs typeface="Arial" pitchFamily="34" charset="-120"/>
              </a:rPr>
              <a:t>▪</a:t>
            </a:r>
            <a:endParaRPr lang="en-US" sz="2100" dirty="0"/>
          </a:p>
        </p:txBody>
      </p:sp>
      <p:sp>
        <p:nvSpPr>
          <p:cNvPr id="33" name="Text 31"/>
          <p:cNvSpPr/>
          <p:nvPr/>
        </p:nvSpPr>
        <p:spPr>
          <a:xfrm>
            <a:off x="9242673" y="4304258"/>
            <a:ext cx="4000850" cy="402878"/>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25384A"/>
                </a:solidFill>
                <a:latin typeface="Arial" pitchFamily="34" charset="0"/>
                <a:ea typeface="Arial" pitchFamily="34" charset="-122"/>
                <a:cs typeface="Arial" pitchFamily="34" charset="-120"/>
              </a:rPr>
              <a:t>0–2 missed cleavages </a:t>
            </a:r>
            <a:pPr algn="l" indent="0" marL="0">
              <a:lnSpc>
                <a:spcPct val="135000"/>
              </a:lnSpc>
              <a:buNone/>
            </a:pPr>
            <a:r>
              <a:rPr lang="en-US" sz="2100" dirty="0">
                <a:solidFill>
                  <a:srgbClr val="25384A"/>
                </a:solidFill>
                <a:latin typeface="Arial" pitchFamily="34" charset="0"/>
                <a:ea typeface="Arial" pitchFamily="34" charset="-122"/>
                <a:cs typeface="Arial" pitchFamily="34" charset="-120"/>
              </a:rPr>
              <a:t>per run.</a:t>
            </a:r>
            <a:endParaRPr lang="en-US" sz="2100" dirty="0"/>
          </a:p>
        </p:txBody>
      </p:sp>
      <p:sp>
        <p:nvSpPr>
          <p:cNvPr id="34" name="Text 32"/>
          <p:cNvSpPr/>
          <p:nvPr/>
        </p:nvSpPr>
        <p:spPr>
          <a:xfrm>
            <a:off x="8955360" y="4897636"/>
            <a:ext cx="211113"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21918C"/>
                </a:solidFill>
                <a:latin typeface="Arial" pitchFamily="34" charset="0"/>
                <a:ea typeface="Arial" pitchFamily="34" charset="-122"/>
                <a:cs typeface="Arial" pitchFamily="34" charset="-120"/>
              </a:rPr>
              <a:t>▪</a:t>
            </a:r>
            <a:endParaRPr lang="en-US" sz="2100" dirty="0"/>
          </a:p>
        </p:txBody>
      </p:sp>
      <p:sp>
        <p:nvSpPr>
          <p:cNvPr id="35" name="Text 33"/>
          <p:cNvSpPr/>
          <p:nvPr/>
        </p:nvSpPr>
        <p:spPr>
          <a:xfrm>
            <a:off x="9242673" y="4897636"/>
            <a:ext cx="7835264" cy="762893"/>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25384A"/>
                </a:solidFill>
                <a:latin typeface="Arial" pitchFamily="34" charset="0"/>
                <a:ea typeface="Arial" pitchFamily="34" charset="-122"/>
                <a:cs typeface="Arial" pitchFamily="34" charset="-120"/>
              </a:rPr>
              <a:t>Fixed, variable, special &amp; custom PTMs </a:t>
            </a:r>
            <a:pPr algn="l" indent="0" marL="0">
              <a:lnSpc>
                <a:spcPct val="135000"/>
              </a:lnSpc>
              <a:buNone/>
            </a:pPr>
            <a:r>
              <a:rPr lang="en-US" sz="2100" dirty="0">
                <a:solidFill>
                  <a:srgbClr val="25384A"/>
                </a:solidFill>
                <a:latin typeface="Arial" pitchFamily="34" charset="0"/>
                <a:ea typeface="Arial" pitchFamily="34" charset="-122"/>
                <a:cs typeface="Arial" pitchFamily="34" charset="-120"/>
              </a:rPr>
              <a:t>— any residue, any mass shift.</a:t>
            </a:r>
            <a:endParaRPr lang="en-US" sz="2100" dirty="0"/>
          </a:p>
        </p:txBody>
      </p:sp>
      <p:sp>
        <p:nvSpPr>
          <p:cNvPr id="36" name="Text 34"/>
          <p:cNvSpPr/>
          <p:nvPr/>
        </p:nvSpPr>
        <p:spPr>
          <a:xfrm>
            <a:off x="8955360" y="5851029"/>
            <a:ext cx="211113"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21918C"/>
                </a:solidFill>
                <a:latin typeface="Arial" pitchFamily="34" charset="0"/>
                <a:ea typeface="Arial" pitchFamily="34" charset="-122"/>
                <a:cs typeface="Arial" pitchFamily="34" charset="-120"/>
              </a:rPr>
              <a:t>▪</a:t>
            </a:r>
            <a:endParaRPr lang="en-US" sz="2100" dirty="0"/>
          </a:p>
        </p:txBody>
      </p:sp>
      <p:sp>
        <p:nvSpPr>
          <p:cNvPr id="37" name="Text 35"/>
          <p:cNvSpPr/>
          <p:nvPr/>
        </p:nvSpPr>
        <p:spPr>
          <a:xfrm>
            <a:off x="9242673" y="5851029"/>
            <a:ext cx="7835264" cy="762893"/>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25384A"/>
                </a:solidFill>
                <a:latin typeface="Arial" pitchFamily="34" charset="0"/>
                <a:ea typeface="Arial" pitchFamily="34" charset="-122"/>
                <a:cs typeface="Arial" pitchFamily="34" charset="-120"/>
              </a:rPr>
              <a:t>ADCDB drug-linker payloads </a:t>
            </a:r>
            <a:pPr algn="l" indent="0" marL="0">
              <a:lnSpc>
                <a:spcPct val="135000"/>
              </a:lnSpc>
              <a:buNone/>
            </a:pPr>
            <a:r>
              <a:rPr lang="en-US" sz="2100" dirty="0">
                <a:solidFill>
                  <a:srgbClr val="25384A"/>
                </a:solidFill>
                <a:latin typeface="Arial" pitchFamily="34" charset="0"/>
                <a:ea typeface="Arial" pitchFamily="34" charset="-122"/>
                <a:cs typeface="Arial" pitchFamily="34" charset="-120"/>
              </a:rPr>
              <a:t>— MMAE, DM1, DXd, SN-38, and more.</a:t>
            </a:r>
            <a:endParaRPr lang="en-US" sz="2100" dirty="0"/>
          </a:p>
        </p:txBody>
      </p:sp>
      <p:sp>
        <p:nvSpPr>
          <p:cNvPr id="38" name="Text 36"/>
          <p:cNvSpPr/>
          <p:nvPr/>
        </p:nvSpPr>
        <p:spPr>
          <a:xfrm>
            <a:off x="8955360" y="6804422"/>
            <a:ext cx="211113"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21918C"/>
                </a:solidFill>
                <a:latin typeface="Arial" pitchFamily="34" charset="0"/>
                <a:ea typeface="Arial" pitchFamily="34" charset="-122"/>
                <a:cs typeface="Arial" pitchFamily="34" charset="-120"/>
              </a:rPr>
              <a:t>▪</a:t>
            </a:r>
            <a:endParaRPr lang="en-US" sz="2100" dirty="0"/>
          </a:p>
        </p:txBody>
      </p:sp>
      <p:sp>
        <p:nvSpPr>
          <p:cNvPr id="39" name="Text 37"/>
          <p:cNvSpPr/>
          <p:nvPr/>
        </p:nvSpPr>
        <p:spPr>
          <a:xfrm>
            <a:off x="9242673" y="6804422"/>
            <a:ext cx="7852068" cy="402878"/>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25384A"/>
                </a:solidFill>
                <a:latin typeface="Arial" pitchFamily="34" charset="0"/>
                <a:ea typeface="Arial" pitchFamily="34" charset="-122"/>
                <a:cs typeface="Arial" pitchFamily="34" charset="-120"/>
              </a:rPr>
              <a:t>Full b/y ion series </a:t>
            </a:r>
            <a:pPr algn="l" indent="0" marL="0">
              <a:lnSpc>
                <a:spcPct val="135000"/>
              </a:lnSpc>
              <a:buNone/>
            </a:pPr>
            <a:r>
              <a:rPr lang="en-US" sz="2100" dirty="0">
                <a:solidFill>
                  <a:srgbClr val="25384A"/>
                </a:solidFill>
                <a:latin typeface="Arial" pitchFamily="34" charset="0"/>
                <a:ea typeface="Arial" pitchFamily="34" charset="-122"/>
                <a:cs typeface="Arial" pitchFamily="34" charset="-120"/>
              </a:rPr>
              <a:t>+ averagine isotope envelope per peptide.</a:t>
            </a:r>
            <a:endParaRPr lang="en-US" sz="2100" dirty="0"/>
          </a:p>
        </p:txBody>
      </p:sp>
      <p:sp>
        <p:nvSpPr>
          <p:cNvPr id="40" name="Shape 38"/>
          <p:cNvSpPr/>
          <p:nvPr/>
        </p:nvSpPr>
        <p:spPr>
          <a:xfrm>
            <a:off x="9374460" y="8058522"/>
            <a:ext cx="133350" cy="310828"/>
          </a:xfrm>
          <a:prstGeom prst="roundRect">
            <a:avLst>
              <a:gd name="adj" fmla="val 21429"/>
            </a:avLst>
          </a:prstGeom>
          <a:solidFill>
            <a:srgbClr val="3B528B"/>
          </a:solidFill>
          <a:ln/>
        </p:spPr>
      </p:sp>
      <p:sp>
        <p:nvSpPr>
          <p:cNvPr id="41" name="Shape 39"/>
          <p:cNvSpPr/>
          <p:nvPr/>
        </p:nvSpPr>
        <p:spPr>
          <a:xfrm>
            <a:off x="9574485" y="7454950"/>
            <a:ext cx="133350" cy="914400"/>
          </a:xfrm>
          <a:prstGeom prst="roundRect">
            <a:avLst>
              <a:gd name="adj" fmla="val 21429"/>
            </a:avLst>
          </a:prstGeom>
          <a:solidFill>
            <a:srgbClr val="21918C"/>
          </a:solidFill>
          <a:ln/>
        </p:spPr>
      </p:sp>
      <p:sp>
        <p:nvSpPr>
          <p:cNvPr id="42" name="Shape 40"/>
          <p:cNvSpPr/>
          <p:nvPr/>
        </p:nvSpPr>
        <p:spPr>
          <a:xfrm>
            <a:off x="9774510" y="7711008"/>
            <a:ext cx="133350" cy="658341"/>
          </a:xfrm>
          <a:prstGeom prst="roundRect">
            <a:avLst>
              <a:gd name="adj" fmla="val 21429"/>
            </a:avLst>
          </a:prstGeom>
          <a:solidFill>
            <a:srgbClr val="2F9E6F"/>
          </a:solidFill>
          <a:ln/>
        </p:spPr>
      </p:sp>
      <p:sp>
        <p:nvSpPr>
          <p:cNvPr id="43" name="Shape 41"/>
          <p:cNvSpPr/>
          <p:nvPr/>
        </p:nvSpPr>
        <p:spPr>
          <a:xfrm>
            <a:off x="9974535" y="8003604"/>
            <a:ext cx="133350" cy="365745"/>
          </a:xfrm>
          <a:prstGeom prst="roundRect">
            <a:avLst>
              <a:gd name="adj" fmla="val 21429"/>
            </a:avLst>
          </a:prstGeom>
          <a:solidFill>
            <a:srgbClr val="5EC962"/>
          </a:solidFill>
          <a:ln/>
        </p:spPr>
      </p:sp>
      <p:sp>
        <p:nvSpPr>
          <p:cNvPr id="44" name="Shape 42"/>
          <p:cNvSpPr/>
          <p:nvPr/>
        </p:nvSpPr>
        <p:spPr>
          <a:xfrm>
            <a:off x="10174560" y="8186514"/>
            <a:ext cx="133350" cy="182835"/>
          </a:xfrm>
          <a:prstGeom prst="roundRect">
            <a:avLst>
              <a:gd name="adj" fmla="val 21429"/>
            </a:avLst>
          </a:prstGeom>
          <a:solidFill>
            <a:srgbClr val="94B13A"/>
          </a:solidFill>
          <a:ln/>
        </p:spPr>
      </p:sp>
      <p:sp>
        <p:nvSpPr>
          <p:cNvPr id="45" name="Shape 43"/>
          <p:cNvSpPr/>
          <p:nvPr/>
        </p:nvSpPr>
        <p:spPr>
          <a:xfrm>
            <a:off x="10374585" y="8287122"/>
            <a:ext cx="133350" cy="82228"/>
          </a:xfrm>
          <a:prstGeom prst="roundRect">
            <a:avLst>
              <a:gd name="adj" fmla="val 34751"/>
            </a:avLst>
          </a:prstGeom>
          <a:solidFill>
            <a:srgbClr val="C9B93A"/>
          </a:solidFill>
          <a:ln/>
        </p:spPr>
      </p:sp>
      <p:sp>
        <p:nvSpPr>
          <p:cNvPr id="46" name="Text 44"/>
          <p:cNvSpPr/>
          <p:nvPr/>
        </p:nvSpPr>
        <p:spPr>
          <a:xfrm>
            <a:off x="10688910" y="7776418"/>
            <a:ext cx="2212881"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A99A4"/>
                </a:solidFill>
                <a:latin typeface="Courier New" pitchFamily="34" charset="0"/>
                <a:ea typeface="Courier New" pitchFamily="34" charset="-122"/>
                <a:cs typeface="Courier New" pitchFamily="34" charset="-120"/>
              </a:rPr>
              <a:t>isotope envelope</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1F7A6D"/>
                </a:solidFill>
                <a:latin typeface="Courier New" pitchFamily="34" charset="0"/>
                <a:ea typeface="Courier New" pitchFamily="34" charset="-122"/>
                <a:cs typeface="Courier New" pitchFamily="34" charset="-120"/>
              </a:rPr>
              <a:t>STEP 02 · THE ADC CORE</a:t>
            </a:r>
            <a:endParaRPr lang="en-US" sz="1800" dirty="0"/>
          </a:p>
        </p:txBody>
      </p:sp>
      <p:sp>
        <p:nvSpPr>
          <p:cNvPr id="3" name="Shape 1"/>
          <p:cNvSpPr/>
          <p:nvPr/>
        </p:nvSpPr>
        <p:spPr>
          <a:xfrm>
            <a:off x="1047750" y="1247775"/>
            <a:ext cx="1257300" cy="57150"/>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4" name="Text 2"/>
          <p:cNvSpPr/>
          <p:nvPr/>
        </p:nvSpPr>
        <p:spPr>
          <a:xfrm>
            <a:off x="1047750" y="1495425"/>
            <a:ext cx="1781175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6293A"/>
                </a:solidFill>
                <a:latin typeface="Arial" pitchFamily="34" charset="0"/>
                <a:ea typeface="Arial" pitchFamily="34" charset="-122"/>
                <a:cs typeface="Arial" pitchFamily="34" charset="-120"/>
              </a:rPr>
              <a:t>DAR &amp; linker biotransformations</a:t>
            </a:r>
            <a:endParaRPr lang="en-US" sz="4800" dirty="0"/>
          </a:p>
        </p:txBody>
      </p:sp>
      <p:sp>
        <p:nvSpPr>
          <p:cNvPr id="5" name="Shape 3"/>
          <p:cNvSpPr/>
          <p:nvPr/>
        </p:nvSpPr>
        <p:spPr>
          <a:xfrm>
            <a:off x="1047750" y="2460054"/>
            <a:ext cx="7694340" cy="7122096"/>
          </a:xfrm>
          <a:prstGeom prst="roundRect">
            <a:avLst>
              <a:gd name="adj" fmla="val 2140"/>
            </a:avLst>
          </a:prstGeom>
          <a:solidFill>
            <a:srgbClr val="FFFFFF"/>
          </a:solidFill>
          <a:ln w="9525">
            <a:solidFill>
              <a:srgbClr val="DCE3E7"/>
            </a:solidFill>
            <a:prstDash val="solid"/>
          </a:ln>
        </p:spPr>
      </p:sp>
      <p:sp>
        <p:nvSpPr>
          <p:cNvPr id="6" name="Text 4"/>
          <p:cNvSpPr/>
          <p:nvPr/>
        </p:nvSpPr>
        <p:spPr>
          <a:xfrm>
            <a:off x="1400175" y="2793429"/>
            <a:ext cx="7688439"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16293A"/>
                </a:solidFill>
                <a:latin typeface="Arial" pitchFamily="34" charset="0"/>
                <a:ea typeface="Arial" pitchFamily="34" charset="-122"/>
                <a:cs typeface="Arial" pitchFamily="34" charset="-120"/>
              </a:rPr>
              <a:t>DAR distribution modeling</a:t>
            </a:r>
            <a:endParaRPr lang="en-US" sz="2250" dirty="0"/>
          </a:p>
        </p:txBody>
      </p:sp>
      <p:sp>
        <p:nvSpPr>
          <p:cNvPr id="7" name="Shape 5"/>
          <p:cNvSpPr/>
          <p:nvPr/>
        </p:nvSpPr>
        <p:spPr>
          <a:xfrm>
            <a:off x="1400175" y="7754392"/>
            <a:ext cx="641077" cy="532135"/>
          </a:xfrm>
          <a:prstGeom prst="roundRect">
            <a:avLst>
              <a:gd name="adj" fmla="val 8950"/>
            </a:avLst>
          </a:prstGeom>
          <a:solidFill>
            <a:srgbClr val="440154"/>
          </a:solidFill>
          <a:ln/>
        </p:spPr>
      </p:sp>
      <p:sp>
        <p:nvSpPr>
          <p:cNvPr id="8" name="Text 6"/>
          <p:cNvSpPr/>
          <p:nvPr/>
        </p:nvSpPr>
        <p:spPr>
          <a:xfrm>
            <a:off x="1657796"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0</a:t>
            </a:r>
            <a:endParaRPr lang="en-US" sz="1650" dirty="0"/>
          </a:p>
        </p:txBody>
      </p:sp>
      <p:sp>
        <p:nvSpPr>
          <p:cNvPr id="9" name="Shape 7"/>
          <p:cNvSpPr/>
          <p:nvPr/>
        </p:nvSpPr>
        <p:spPr>
          <a:xfrm>
            <a:off x="2193652" y="6583635"/>
            <a:ext cx="641152" cy="1702891"/>
          </a:xfrm>
          <a:prstGeom prst="roundRect">
            <a:avLst>
              <a:gd name="adj" fmla="val 7428"/>
            </a:avLst>
          </a:prstGeom>
          <a:solidFill>
            <a:srgbClr val="472D7B"/>
          </a:solidFill>
          <a:ln/>
        </p:spPr>
      </p:sp>
      <p:sp>
        <p:nvSpPr>
          <p:cNvPr id="10" name="Text 8"/>
          <p:cNvSpPr/>
          <p:nvPr/>
        </p:nvSpPr>
        <p:spPr>
          <a:xfrm>
            <a:off x="2451348"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1</a:t>
            </a:r>
            <a:endParaRPr lang="en-US" sz="1650" dirty="0"/>
          </a:p>
        </p:txBody>
      </p:sp>
      <p:sp>
        <p:nvSpPr>
          <p:cNvPr id="11" name="Shape 9"/>
          <p:cNvSpPr/>
          <p:nvPr/>
        </p:nvSpPr>
        <p:spPr>
          <a:xfrm>
            <a:off x="2987204" y="4880744"/>
            <a:ext cx="641152" cy="3405783"/>
          </a:xfrm>
          <a:prstGeom prst="roundRect">
            <a:avLst>
              <a:gd name="adj" fmla="val 7428"/>
            </a:avLst>
          </a:prstGeom>
          <a:solidFill>
            <a:srgbClr val="3B528B"/>
          </a:solidFill>
          <a:ln/>
        </p:spPr>
      </p:sp>
      <p:sp>
        <p:nvSpPr>
          <p:cNvPr id="12" name="Text 10"/>
          <p:cNvSpPr/>
          <p:nvPr/>
        </p:nvSpPr>
        <p:spPr>
          <a:xfrm>
            <a:off x="3244900"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2</a:t>
            </a:r>
            <a:endParaRPr lang="en-US" sz="1650" dirty="0"/>
          </a:p>
        </p:txBody>
      </p:sp>
      <p:sp>
        <p:nvSpPr>
          <p:cNvPr id="13" name="Shape 11"/>
          <p:cNvSpPr/>
          <p:nvPr/>
        </p:nvSpPr>
        <p:spPr>
          <a:xfrm>
            <a:off x="3780755" y="3331592"/>
            <a:ext cx="641152" cy="4954935"/>
          </a:xfrm>
          <a:prstGeom prst="roundRect">
            <a:avLst>
              <a:gd name="adj" fmla="val 7428"/>
            </a:avLst>
          </a:prstGeom>
          <a:solidFill>
            <a:srgbClr val="2C718E"/>
          </a:solidFill>
          <a:ln/>
        </p:spPr>
      </p:sp>
      <p:sp>
        <p:nvSpPr>
          <p:cNvPr id="14" name="Text 12"/>
          <p:cNvSpPr/>
          <p:nvPr/>
        </p:nvSpPr>
        <p:spPr>
          <a:xfrm>
            <a:off x="4038451"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3</a:t>
            </a:r>
            <a:endParaRPr lang="en-US" sz="1650" dirty="0"/>
          </a:p>
        </p:txBody>
      </p:sp>
      <p:sp>
        <p:nvSpPr>
          <p:cNvPr id="15" name="Shape 13"/>
          <p:cNvSpPr/>
          <p:nvPr/>
        </p:nvSpPr>
        <p:spPr>
          <a:xfrm>
            <a:off x="4574307" y="3497089"/>
            <a:ext cx="641152" cy="4789438"/>
          </a:xfrm>
          <a:prstGeom prst="roundRect">
            <a:avLst>
              <a:gd name="adj" fmla="val 7428"/>
            </a:avLst>
          </a:prstGeom>
          <a:solidFill>
            <a:srgbClr val="21918C"/>
          </a:solidFill>
          <a:ln/>
        </p:spPr>
      </p:sp>
      <p:sp>
        <p:nvSpPr>
          <p:cNvPr id="16" name="Text 14"/>
          <p:cNvSpPr/>
          <p:nvPr/>
        </p:nvSpPr>
        <p:spPr>
          <a:xfrm>
            <a:off x="4832003"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4</a:t>
            </a:r>
            <a:endParaRPr lang="en-US" sz="1650" dirty="0"/>
          </a:p>
        </p:txBody>
      </p:sp>
      <p:sp>
        <p:nvSpPr>
          <p:cNvPr id="17" name="Shape 15"/>
          <p:cNvSpPr/>
          <p:nvPr/>
        </p:nvSpPr>
        <p:spPr>
          <a:xfrm>
            <a:off x="5367858" y="4987156"/>
            <a:ext cx="641152" cy="3299371"/>
          </a:xfrm>
          <a:prstGeom prst="roundRect">
            <a:avLst>
              <a:gd name="adj" fmla="val 7428"/>
            </a:avLst>
          </a:prstGeom>
          <a:solidFill>
            <a:srgbClr val="27AD81"/>
          </a:solidFill>
          <a:ln/>
        </p:spPr>
      </p:sp>
      <p:sp>
        <p:nvSpPr>
          <p:cNvPr id="18" name="Text 16"/>
          <p:cNvSpPr/>
          <p:nvPr/>
        </p:nvSpPr>
        <p:spPr>
          <a:xfrm>
            <a:off x="5625554"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5</a:t>
            </a:r>
            <a:endParaRPr lang="en-US" sz="1650" dirty="0"/>
          </a:p>
        </p:txBody>
      </p:sp>
      <p:sp>
        <p:nvSpPr>
          <p:cNvPr id="19" name="Shape 17"/>
          <p:cNvSpPr/>
          <p:nvPr/>
        </p:nvSpPr>
        <p:spPr>
          <a:xfrm>
            <a:off x="6161410" y="6370737"/>
            <a:ext cx="641152" cy="1915790"/>
          </a:xfrm>
          <a:prstGeom prst="roundRect">
            <a:avLst>
              <a:gd name="adj" fmla="val 7428"/>
            </a:avLst>
          </a:prstGeom>
          <a:solidFill>
            <a:srgbClr val="5EC962"/>
          </a:solidFill>
          <a:ln/>
        </p:spPr>
      </p:sp>
      <p:sp>
        <p:nvSpPr>
          <p:cNvPr id="20" name="Text 18"/>
          <p:cNvSpPr/>
          <p:nvPr/>
        </p:nvSpPr>
        <p:spPr>
          <a:xfrm>
            <a:off x="6419106"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6</a:t>
            </a:r>
            <a:endParaRPr lang="en-US" sz="1650" dirty="0"/>
          </a:p>
        </p:txBody>
      </p:sp>
      <p:sp>
        <p:nvSpPr>
          <p:cNvPr id="21" name="Shape 19"/>
          <p:cNvSpPr/>
          <p:nvPr/>
        </p:nvSpPr>
        <p:spPr>
          <a:xfrm>
            <a:off x="6954962" y="7435081"/>
            <a:ext cx="641152" cy="851446"/>
          </a:xfrm>
          <a:prstGeom prst="roundRect">
            <a:avLst>
              <a:gd name="adj" fmla="val 7428"/>
            </a:avLst>
          </a:prstGeom>
          <a:solidFill>
            <a:srgbClr val="ADDC30"/>
          </a:solidFill>
          <a:ln/>
        </p:spPr>
      </p:sp>
      <p:sp>
        <p:nvSpPr>
          <p:cNvPr id="22" name="Text 20"/>
          <p:cNvSpPr/>
          <p:nvPr/>
        </p:nvSpPr>
        <p:spPr>
          <a:xfrm>
            <a:off x="7212657"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7</a:t>
            </a:r>
            <a:endParaRPr lang="en-US" sz="1650" dirty="0"/>
          </a:p>
        </p:txBody>
      </p:sp>
      <p:sp>
        <p:nvSpPr>
          <p:cNvPr id="23" name="Shape 21"/>
          <p:cNvSpPr/>
          <p:nvPr/>
        </p:nvSpPr>
        <p:spPr>
          <a:xfrm>
            <a:off x="7748513" y="7860804"/>
            <a:ext cx="641152" cy="425723"/>
          </a:xfrm>
          <a:prstGeom prst="roundRect">
            <a:avLst>
              <a:gd name="adj" fmla="val 11187"/>
            </a:avLst>
          </a:prstGeom>
          <a:solidFill>
            <a:srgbClr val="DFE020"/>
          </a:solidFill>
          <a:ln/>
        </p:spPr>
      </p:sp>
      <p:sp>
        <p:nvSpPr>
          <p:cNvPr id="24" name="Text 22"/>
          <p:cNvSpPr/>
          <p:nvPr/>
        </p:nvSpPr>
        <p:spPr>
          <a:xfrm>
            <a:off x="8006209" y="8381777"/>
            <a:ext cx="20196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Courier New" pitchFamily="34" charset="0"/>
                <a:ea typeface="Courier New" pitchFamily="34" charset="-122"/>
                <a:cs typeface="Courier New" pitchFamily="34" charset="-120"/>
              </a:rPr>
              <a:t>8</a:t>
            </a:r>
            <a:endParaRPr lang="en-US" sz="1650" dirty="0"/>
          </a:p>
        </p:txBody>
      </p:sp>
      <p:sp>
        <p:nvSpPr>
          <p:cNvPr id="25" name="Text 23"/>
          <p:cNvSpPr/>
          <p:nvPr/>
        </p:nvSpPr>
        <p:spPr>
          <a:xfrm>
            <a:off x="1400175" y="8862789"/>
            <a:ext cx="7688439" cy="424086"/>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A5C6A"/>
                </a:solidFill>
                <a:latin typeface="Arial" pitchFamily="34" charset="0"/>
                <a:ea typeface="Arial" pitchFamily="34" charset="-122"/>
                <a:cs typeface="Arial" pitchFamily="34" charset="-120"/>
              </a:rPr>
              <a:t>A full MRM transition list per DAR level, from </a:t>
            </a:r>
            <a:pPr algn="l" indent="0" marL="0">
              <a:lnSpc>
                <a:spcPct val="140000"/>
              </a:lnSpc>
              <a:buNone/>
            </a:pPr>
            <a:r>
              <a:rPr lang="en-US" sz="1950" dirty="0">
                <a:solidFill>
                  <a:srgbClr val="4A5C6A"/>
                </a:solidFill>
                <a:latin typeface="Courier New" pitchFamily="34" charset="0"/>
                <a:ea typeface="Courier New" pitchFamily="34" charset="-122"/>
                <a:cs typeface="Courier New" pitchFamily="34" charset="-120"/>
              </a:rPr>
              <a:t>DAR0 </a:t>
            </a:r>
            <a:pPr algn="l" indent="0" marL="0">
              <a:lnSpc>
                <a:spcPct val="140000"/>
              </a:lnSpc>
              <a:buNone/>
            </a:pPr>
            <a:r>
              <a:rPr lang="en-US" sz="1950" dirty="0">
                <a:solidFill>
                  <a:srgbClr val="4A5C6A"/>
                </a:solidFill>
                <a:latin typeface="Arial" pitchFamily="34" charset="0"/>
                <a:ea typeface="Arial" pitchFamily="34" charset="-122"/>
                <a:cs typeface="Arial" pitchFamily="34" charset="-120"/>
              </a:rPr>
              <a:t>to </a:t>
            </a:r>
            <a:pPr algn="l" indent="0" marL="0">
              <a:lnSpc>
                <a:spcPct val="140000"/>
              </a:lnSpc>
              <a:buNone/>
            </a:pPr>
            <a:r>
              <a:rPr lang="en-US" sz="1950" dirty="0">
                <a:solidFill>
                  <a:srgbClr val="4A5C6A"/>
                </a:solidFill>
                <a:latin typeface="Courier New" pitchFamily="34" charset="0"/>
                <a:ea typeface="Courier New" pitchFamily="34" charset="-122"/>
                <a:cs typeface="Courier New" pitchFamily="34" charset="-120"/>
              </a:rPr>
              <a:t>DAR</a:t>
            </a:r>
            <a:pPr algn="l" indent="0" marL="0">
              <a:lnSpc>
                <a:spcPct val="140000"/>
              </a:lnSpc>
              <a:buNone/>
            </a:pPr>
            <a:r>
              <a:rPr lang="en-US" sz="1625" baseline="-40000" dirty="0">
                <a:solidFill>
                  <a:srgbClr val="4A5C6A"/>
                </a:solidFill>
                <a:latin typeface="Courier New" pitchFamily="34" charset="0"/>
                <a:ea typeface="Courier New" pitchFamily="34" charset="-122"/>
                <a:cs typeface="Courier New" pitchFamily="34" charset="-120"/>
              </a:rPr>
              <a:t>n</a:t>
            </a:r>
            <a:pPr algn="l" indent="0" marL="0">
              <a:lnSpc>
                <a:spcPct val="140000"/>
              </a:lnSpc>
              <a:buNone/>
            </a:pPr>
            <a:r>
              <a:rPr lang="en-US" sz="1950" dirty="0">
                <a:solidFill>
                  <a:srgbClr val="4A5C6A"/>
                </a:solidFill>
                <a:latin typeface="Arial" pitchFamily="34" charset="0"/>
                <a:ea typeface="Arial" pitchFamily="34" charset="-122"/>
                <a:cs typeface="Arial" pitchFamily="34" charset="-120"/>
              </a:rPr>
              <a:t>.</a:t>
            </a:r>
            <a:endParaRPr lang="en-US" sz="1950" dirty="0"/>
          </a:p>
        </p:txBody>
      </p:sp>
      <p:sp>
        <p:nvSpPr>
          <p:cNvPr id="26" name="Text 24"/>
          <p:cNvSpPr/>
          <p:nvPr/>
        </p:nvSpPr>
        <p:spPr>
          <a:xfrm>
            <a:off x="9161190" y="2460054"/>
            <a:ext cx="8886885"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16293A"/>
                </a:solidFill>
                <a:latin typeface="Arial" pitchFamily="34" charset="0"/>
                <a:ea typeface="Arial" pitchFamily="34" charset="-122"/>
                <a:cs typeface="Arial" pitchFamily="34" charset="-120"/>
              </a:rPr>
              <a:t>Linker biotransformations as variable mods</a:t>
            </a:r>
            <a:endParaRPr lang="en-US" sz="2250" dirty="0"/>
          </a:p>
        </p:txBody>
      </p:sp>
      <p:sp>
        <p:nvSpPr>
          <p:cNvPr id="27" name="Shape 25"/>
          <p:cNvSpPr/>
          <p:nvPr/>
        </p:nvSpPr>
        <p:spPr>
          <a:xfrm>
            <a:off x="9161190" y="2960117"/>
            <a:ext cx="8078986" cy="3676650"/>
          </a:xfrm>
          <a:prstGeom prst="roundRect">
            <a:avLst>
              <a:gd name="adj" fmla="val 4145"/>
            </a:avLst>
          </a:prstGeom>
          <a:solidFill>
            <a:srgbClr val="FFFFFF"/>
          </a:solidFill>
          <a:ln w="9525">
            <a:solidFill>
              <a:srgbClr val="DCE3E7"/>
            </a:solidFill>
            <a:prstDash val="solid"/>
          </a:ln>
        </p:spPr>
      </p:sp>
      <p:sp>
        <p:nvSpPr>
          <p:cNvPr id="28" name="Shape 26"/>
          <p:cNvSpPr/>
          <p:nvPr/>
        </p:nvSpPr>
        <p:spPr>
          <a:xfrm>
            <a:off x="9170715" y="3507804"/>
            <a:ext cx="5768206" cy="9525"/>
          </a:xfrm>
          <a:prstGeom prst="rect">
            <a:avLst/>
          </a:prstGeom>
          <a:solidFill>
            <a:srgbClr val="EAEFF2"/>
          </a:solidFill>
          <a:ln/>
        </p:spPr>
      </p:sp>
      <p:sp>
        <p:nvSpPr>
          <p:cNvPr id="29" name="Text 27"/>
          <p:cNvSpPr/>
          <p:nvPr/>
        </p:nvSpPr>
        <p:spPr>
          <a:xfrm>
            <a:off x="9418365" y="3102992"/>
            <a:ext cx="5445952"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A99A4"/>
                </a:solidFill>
                <a:latin typeface="Courier New" pitchFamily="34" charset="0"/>
                <a:ea typeface="Courier New" pitchFamily="34" charset="-122"/>
                <a:cs typeface="Courier New" pitchFamily="34" charset="-120"/>
              </a:rPr>
              <a:t>Transformation</a:t>
            </a:r>
            <a:endParaRPr lang="en-US" sz="1650" dirty="0"/>
          </a:p>
        </p:txBody>
      </p:sp>
      <p:sp>
        <p:nvSpPr>
          <p:cNvPr id="30" name="Shape 28"/>
          <p:cNvSpPr/>
          <p:nvPr/>
        </p:nvSpPr>
        <p:spPr>
          <a:xfrm>
            <a:off x="14938921" y="3507804"/>
            <a:ext cx="1419225" cy="9525"/>
          </a:xfrm>
          <a:prstGeom prst="rect">
            <a:avLst/>
          </a:prstGeom>
          <a:solidFill>
            <a:srgbClr val="EAEFF2"/>
          </a:solidFill>
          <a:ln/>
        </p:spPr>
      </p:sp>
      <p:sp>
        <p:nvSpPr>
          <p:cNvPr id="31" name="Text 29"/>
          <p:cNvSpPr/>
          <p:nvPr/>
        </p:nvSpPr>
        <p:spPr>
          <a:xfrm>
            <a:off x="15072271" y="3102992"/>
            <a:ext cx="1076325" cy="309563"/>
          </a:xfrm>
          <a:prstGeom prst="rect">
            <a:avLst/>
          </a:prstGeom>
          <a:noFill/>
          <a:ln/>
        </p:spPr>
        <p:txBody>
          <a:bodyPr wrap="square" lIns="25400" tIns="25400" rIns="25400" bIns="25400" rtlCol="0" anchor="t">
            <a:normAutofit/>
          </a:bodyPr>
          <a:lstStyle/>
          <a:p>
            <a:pPr algn="r" indent="0" marL="0">
              <a:buNone/>
            </a:pPr>
            <a:r>
              <a:rPr lang="en-US" sz="1650" dirty="0">
                <a:solidFill>
                  <a:srgbClr val="8A99A4"/>
                </a:solidFill>
                <a:latin typeface="Courier New" pitchFamily="34" charset="0"/>
                <a:ea typeface="Courier New" pitchFamily="34" charset="-122"/>
                <a:cs typeface="Courier New" pitchFamily="34" charset="-120"/>
              </a:rPr>
              <a:t>Δ mass</a:t>
            </a:r>
            <a:endParaRPr lang="en-US" sz="1650" dirty="0"/>
          </a:p>
        </p:txBody>
      </p:sp>
      <p:sp>
        <p:nvSpPr>
          <p:cNvPr id="32" name="Shape 30"/>
          <p:cNvSpPr/>
          <p:nvPr/>
        </p:nvSpPr>
        <p:spPr>
          <a:xfrm>
            <a:off x="16358146" y="3507804"/>
            <a:ext cx="872505" cy="9525"/>
          </a:xfrm>
          <a:prstGeom prst="rect">
            <a:avLst/>
          </a:prstGeom>
          <a:solidFill>
            <a:srgbClr val="EAEFF2"/>
          </a:solidFill>
          <a:ln/>
        </p:spPr>
      </p:sp>
      <p:sp>
        <p:nvSpPr>
          <p:cNvPr id="33" name="Text 31"/>
          <p:cNvSpPr/>
          <p:nvPr/>
        </p:nvSpPr>
        <p:spPr>
          <a:xfrm>
            <a:off x="16567696" y="3102992"/>
            <a:ext cx="453405" cy="309563"/>
          </a:xfrm>
          <a:prstGeom prst="rect">
            <a:avLst/>
          </a:prstGeom>
          <a:noFill/>
          <a:ln/>
        </p:spPr>
        <p:txBody>
          <a:bodyPr wrap="square" lIns="25400" tIns="25400" rIns="25400" bIns="25400" rtlCol="0" anchor="t">
            <a:normAutofit/>
          </a:bodyPr>
          <a:lstStyle/>
          <a:p>
            <a:pPr algn="ctr" indent="0" marL="0">
              <a:buNone/>
            </a:pPr>
            <a:r>
              <a:rPr lang="en-US" sz="1650" dirty="0">
                <a:solidFill>
                  <a:srgbClr val="8A99A4"/>
                </a:solidFill>
                <a:latin typeface="Courier New" pitchFamily="34" charset="0"/>
                <a:ea typeface="Courier New" pitchFamily="34" charset="-122"/>
                <a:cs typeface="Courier New" pitchFamily="34" charset="-120"/>
              </a:rPr>
              <a:t>Res</a:t>
            </a:r>
            <a:endParaRPr lang="en-US" sz="1650" dirty="0"/>
          </a:p>
        </p:txBody>
      </p:sp>
      <p:sp>
        <p:nvSpPr>
          <p:cNvPr id="34" name="Shape 32"/>
          <p:cNvSpPr/>
          <p:nvPr/>
        </p:nvSpPr>
        <p:spPr>
          <a:xfrm>
            <a:off x="9170715" y="4131692"/>
            <a:ext cx="5768206" cy="9525"/>
          </a:xfrm>
          <a:prstGeom prst="rect">
            <a:avLst/>
          </a:prstGeom>
          <a:solidFill>
            <a:srgbClr val="EAEFF2"/>
          </a:solidFill>
          <a:ln/>
        </p:spPr>
      </p:sp>
      <p:sp>
        <p:nvSpPr>
          <p:cNvPr id="35" name="Text 33"/>
          <p:cNvSpPr/>
          <p:nvPr/>
        </p:nvSpPr>
        <p:spPr>
          <a:xfrm>
            <a:off x="9418365" y="3669729"/>
            <a:ext cx="54459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25384A"/>
                </a:solidFill>
                <a:latin typeface="Courier New" pitchFamily="34" charset="0"/>
                <a:ea typeface="Courier New" pitchFamily="34" charset="-122"/>
                <a:cs typeface="Courier New" pitchFamily="34" charset="-120"/>
              </a:rPr>
              <a:t>Maleimide ring hydrolysis</a:t>
            </a:r>
            <a:endParaRPr lang="en-US" sz="1875" dirty="0"/>
          </a:p>
        </p:txBody>
      </p:sp>
      <p:sp>
        <p:nvSpPr>
          <p:cNvPr id="36" name="Shape 34"/>
          <p:cNvSpPr/>
          <p:nvPr/>
        </p:nvSpPr>
        <p:spPr>
          <a:xfrm>
            <a:off x="14938921" y="4131692"/>
            <a:ext cx="1419225" cy="9525"/>
          </a:xfrm>
          <a:prstGeom prst="rect">
            <a:avLst/>
          </a:prstGeom>
          <a:solidFill>
            <a:srgbClr val="EAEFF2"/>
          </a:solidFill>
          <a:ln/>
        </p:spPr>
      </p:sp>
      <p:sp>
        <p:nvSpPr>
          <p:cNvPr id="37" name="Text 35"/>
          <p:cNvSpPr/>
          <p:nvPr/>
        </p:nvSpPr>
        <p:spPr>
          <a:xfrm>
            <a:off x="15072271" y="3669729"/>
            <a:ext cx="1076325" cy="347663"/>
          </a:xfrm>
          <a:prstGeom prst="rect">
            <a:avLst/>
          </a:prstGeom>
          <a:noFill/>
          <a:ln/>
        </p:spPr>
        <p:txBody>
          <a:bodyPr wrap="square" lIns="25400" tIns="25400" rIns="25400" bIns="25400" rtlCol="0" anchor="t">
            <a:normAutofit/>
          </a:bodyPr>
          <a:lstStyle/>
          <a:p>
            <a:pPr algn="r" indent="0" marL="0">
              <a:buNone/>
            </a:pPr>
            <a:r>
              <a:rPr lang="en-US" sz="1875" dirty="0">
                <a:solidFill>
                  <a:srgbClr val="1F7A6D"/>
                </a:solidFill>
                <a:latin typeface="Courier New" pitchFamily="34" charset="0"/>
                <a:ea typeface="Courier New" pitchFamily="34" charset="-122"/>
                <a:cs typeface="Courier New" pitchFamily="34" charset="-120"/>
              </a:rPr>
              <a:t>+18.011</a:t>
            </a:r>
            <a:endParaRPr lang="en-US" sz="1875" dirty="0"/>
          </a:p>
        </p:txBody>
      </p:sp>
      <p:sp>
        <p:nvSpPr>
          <p:cNvPr id="38" name="Shape 36"/>
          <p:cNvSpPr/>
          <p:nvPr/>
        </p:nvSpPr>
        <p:spPr>
          <a:xfrm>
            <a:off x="16358146" y="4131692"/>
            <a:ext cx="872505" cy="9525"/>
          </a:xfrm>
          <a:prstGeom prst="rect">
            <a:avLst/>
          </a:prstGeom>
          <a:solidFill>
            <a:srgbClr val="EAEFF2"/>
          </a:solidFill>
          <a:ln/>
        </p:spPr>
      </p:sp>
      <p:sp>
        <p:nvSpPr>
          <p:cNvPr id="39" name="Text 37"/>
          <p:cNvSpPr/>
          <p:nvPr/>
        </p:nvSpPr>
        <p:spPr>
          <a:xfrm>
            <a:off x="16567696" y="3669729"/>
            <a:ext cx="453405" cy="347663"/>
          </a:xfrm>
          <a:prstGeom prst="rect">
            <a:avLst/>
          </a:prstGeom>
          <a:noFill/>
          <a:ln/>
        </p:spPr>
        <p:txBody>
          <a:bodyPr wrap="square" lIns="25400" tIns="25400" rIns="25400" bIns="25400" rtlCol="0" anchor="t">
            <a:normAutofit/>
          </a:bodyPr>
          <a:lstStyle/>
          <a:p>
            <a:pPr algn="ctr" indent="0" marL="0">
              <a:buNone/>
            </a:pPr>
            <a:r>
              <a:rPr lang="en-US" sz="1875" dirty="0">
                <a:solidFill>
                  <a:srgbClr val="63737F"/>
                </a:solidFill>
                <a:latin typeface="Courier New" pitchFamily="34" charset="0"/>
                <a:ea typeface="Courier New" pitchFamily="34" charset="-122"/>
                <a:cs typeface="Courier New" pitchFamily="34" charset="-120"/>
              </a:rPr>
              <a:t>C</a:t>
            </a:r>
            <a:endParaRPr lang="en-US" sz="1875" dirty="0"/>
          </a:p>
        </p:txBody>
      </p:sp>
      <p:sp>
        <p:nvSpPr>
          <p:cNvPr id="40" name="Shape 38"/>
          <p:cNvSpPr/>
          <p:nvPr/>
        </p:nvSpPr>
        <p:spPr>
          <a:xfrm>
            <a:off x="9170715" y="4755579"/>
            <a:ext cx="5768206" cy="9525"/>
          </a:xfrm>
          <a:prstGeom prst="rect">
            <a:avLst/>
          </a:prstGeom>
          <a:solidFill>
            <a:srgbClr val="EAEFF2"/>
          </a:solidFill>
          <a:ln/>
        </p:spPr>
      </p:sp>
      <p:sp>
        <p:nvSpPr>
          <p:cNvPr id="41" name="Text 39"/>
          <p:cNvSpPr/>
          <p:nvPr/>
        </p:nvSpPr>
        <p:spPr>
          <a:xfrm>
            <a:off x="9418365" y="4293617"/>
            <a:ext cx="54459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25384A"/>
                </a:solidFill>
                <a:latin typeface="Courier New" pitchFamily="34" charset="0"/>
                <a:ea typeface="Courier New" pitchFamily="34" charset="-122"/>
                <a:cs typeface="Courier New" pitchFamily="34" charset="-120"/>
              </a:rPr>
              <a:t>Succinimide ring-opening</a:t>
            </a:r>
            <a:endParaRPr lang="en-US" sz="1875" dirty="0"/>
          </a:p>
        </p:txBody>
      </p:sp>
      <p:sp>
        <p:nvSpPr>
          <p:cNvPr id="42" name="Shape 40"/>
          <p:cNvSpPr/>
          <p:nvPr/>
        </p:nvSpPr>
        <p:spPr>
          <a:xfrm>
            <a:off x="14938921" y="4755579"/>
            <a:ext cx="1419225" cy="9525"/>
          </a:xfrm>
          <a:prstGeom prst="rect">
            <a:avLst/>
          </a:prstGeom>
          <a:solidFill>
            <a:srgbClr val="EAEFF2"/>
          </a:solidFill>
          <a:ln/>
        </p:spPr>
      </p:sp>
      <p:sp>
        <p:nvSpPr>
          <p:cNvPr id="43" name="Text 41"/>
          <p:cNvSpPr/>
          <p:nvPr/>
        </p:nvSpPr>
        <p:spPr>
          <a:xfrm>
            <a:off x="15072271" y="4293617"/>
            <a:ext cx="1076325" cy="347663"/>
          </a:xfrm>
          <a:prstGeom prst="rect">
            <a:avLst/>
          </a:prstGeom>
          <a:noFill/>
          <a:ln/>
        </p:spPr>
        <p:txBody>
          <a:bodyPr wrap="square" lIns="25400" tIns="25400" rIns="25400" bIns="25400" rtlCol="0" anchor="t">
            <a:normAutofit/>
          </a:bodyPr>
          <a:lstStyle/>
          <a:p>
            <a:pPr algn="r" indent="0" marL="0">
              <a:buNone/>
            </a:pPr>
            <a:r>
              <a:rPr lang="en-US" sz="1875" dirty="0">
                <a:solidFill>
                  <a:srgbClr val="1F7A6D"/>
                </a:solidFill>
                <a:latin typeface="Courier New" pitchFamily="34" charset="0"/>
                <a:ea typeface="Courier New" pitchFamily="34" charset="-122"/>
                <a:cs typeface="Courier New" pitchFamily="34" charset="-120"/>
              </a:rPr>
              <a:t>+18.011</a:t>
            </a:r>
            <a:endParaRPr lang="en-US" sz="1875" dirty="0"/>
          </a:p>
        </p:txBody>
      </p:sp>
      <p:sp>
        <p:nvSpPr>
          <p:cNvPr id="44" name="Shape 42"/>
          <p:cNvSpPr/>
          <p:nvPr/>
        </p:nvSpPr>
        <p:spPr>
          <a:xfrm>
            <a:off x="16358146" y="4755579"/>
            <a:ext cx="872505" cy="9525"/>
          </a:xfrm>
          <a:prstGeom prst="rect">
            <a:avLst/>
          </a:prstGeom>
          <a:solidFill>
            <a:srgbClr val="EAEFF2"/>
          </a:solidFill>
          <a:ln/>
        </p:spPr>
      </p:sp>
      <p:sp>
        <p:nvSpPr>
          <p:cNvPr id="45" name="Text 43"/>
          <p:cNvSpPr/>
          <p:nvPr/>
        </p:nvSpPr>
        <p:spPr>
          <a:xfrm>
            <a:off x="16567696" y="4293617"/>
            <a:ext cx="453405" cy="347663"/>
          </a:xfrm>
          <a:prstGeom prst="rect">
            <a:avLst/>
          </a:prstGeom>
          <a:noFill/>
          <a:ln/>
        </p:spPr>
        <p:txBody>
          <a:bodyPr wrap="square" lIns="25400" tIns="25400" rIns="25400" bIns="25400" rtlCol="0" anchor="t">
            <a:normAutofit/>
          </a:bodyPr>
          <a:lstStyle/>
          <a:p>
            <a:pPr algn="ctr" indent="0" marL="0">
              <a:buNone/>
            </a:pPr>
            <a:r>
              <a:rPr lang="en-US" sz="1875" dirty="0">
                <a:solidFill>
                  <a:srgbClr val="63737F"/>
                </a:solidFill>
                <a:latin typeface="Courier New" pitchFamily="34" charset="0"/>
                <a:ea typeface="Courier New" pitchFamily="34" charset="-122"/>
                <a:cs typeface="Courier New" pitchFamily="34" charset="-120"/>
              </a:rPr>
              <a:t>C</a:t>
            </a:r>
            <a:endParaRPr lang="en-US" sz="1875" dirty="0"/>
          </a:p>
        </p:txBody>
      </p:sp>
      <p:sp>
        <p:nvSpPr>
          <p:cNvPr id="46" name="Shape 44"/>
          <p:cNvSpPr/>
          <p:nvPr/>
        </p:nvSpPr>
        <p:spPr>
          <a:xfrm>
            <a:off x="9170715" y="5379467"/>
            <a:ext cx="5768206" cy="9525"/>
          </a:xfrm>
          <a:prstGeom prst="rect">
            <a:avLst/>
          </a:prstGeom>
          <a:solidFill>
            <a:srgbClr val="EAEFF2"/>
          </a:solidFill>
          <a:ln/>
        </p:spPr>
      </p:sp>
      <p:sp>
        <p:nvSpPr>
          <p:cNvPr id="47" name="Text 45"/>
          <p:cNvSpPr/>
          <p:nvPr/>
        </p:nvSpPr>
        <p:spPr>
          <a:xfrm>
            <a:off x="9418365" y="4917504"/>
            <a:ext cx="54459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25384A"/>
                </a:solidFill>
                <a:latin typeface="Courier New" pitchFamily="34" charset="0"/>
                <a:ea typeface="Courier New" pitchFamily="34" charset="-122"/>
                <a:cs typeface="Courier New" pitchFamily="34" charset="-120"/>
              </a:rPr>
              <a:t>Thioether → sulfoxide</a:t>
            </a:r>
            <a:endParaRPr lang="en-US" sz="1875" dirty="0"/>
          </a:p>
        </p:txBody>
      </p:sp>
      <p:sp>
        <p:nvSpPr>
          <p:cNvPr id="48" name="Shape 46"/>
          <p:cNvSpPr/>
          <p:nvPr/>
        </p:nvSpPr>
        <p:spPr>
          <a:xfrm>
            <a:off x="14938921" y="5379467"/>
            <a:ext cx="1419225" cy="9525"/>
          </a:xfrm>
          <a:prstGeom prst="rect">
            <a:avLst/>
          </a:prstGeom>
          <a:solidFill>
            <a:srgbClr val="EAEFF2"/>
          </a:solidFill>
          <a:ln/>
        </p:spPr>
      </p:sp>
      <p:sp>
        <p:nvSpPr>
          <p:cNvPr id="49" name="Text 47"/>
          <p:cNvSpPr/>
          <p:nvPr/>
        </p:nvSpPr>
        <p:spPr>
          <a:xfrm>
            <a:off x="15072271" y="4917504"/>
            <a:ext cx="1076325" cy="347663"/>
          </a:xfrm>
          <a:prstGeom prst="rect">
            <a:avLst/>
          </a:prstGeom>
          <a:noFill/>
          <a:ln/>
        </p:spPr>
        <p:txBody>
          <a:bodyPr wrap="square" lIns="25400" tIns="25400" rIns="25400" bIns="25400" rtlCol="0" anchor="t">
            <a:normAutofit/>
          </a:bodyPr>
          <a:lstStyle/>
          <a:p>
            <a:pPr algn="r" indent="0" marL="0">
              <a:buNone/>
            </a:pPr>
            <a:r>
              <a:rPr lang="en-US" sz="1875" dirty="0">
                <a:solidFill>
                  <a:srgbClr val="1F7A6D"/>
                </a:solidFill>
                <a:latin typeface="Courier New" pitchFamily="34" charset="0"/>
                <a:ea typeface="Courier New" pitchFamily="34" charset="-122"/>
                <a:cs typeface="Courier New" pitchFamily="34" charset="-120"/>
              </a:rPr>
              <a:t>+15.995</a:t>
            </a:r>
            <a:endParaRPr lang="en-US" sz="1875" dirty="0"/>
          </a:p>
        </p:txBody>
      </p:sp>
      <p:sp>
        <p:nvSpPr>
          <p:cNvPr id="50" name="Shape 48"/>
          <p:cNvSpPr/>
          <p:nvPr/>
        </p:nvSpPr>
        <p:spPr>
          <a:xfrm>
            <a:off x="16358146" y="5379467"/>
            <a:ext cx="872505" cy="9525"/>
          </a:xfrm>
          <a:prstGeom prst="rect">
            <a:avLst/>
          </a:prstGeom>
          <a:solidFill>
            <a:srgbClr val="EAEFF2"/>
          </a:solidFill>
          <a:ln/>
        </p:spPr>
      </p:sp>
      <p:sp>
        <p:nvSpPr>
          <p:cNvPr id="51" name="Text 49"/>
          <p:cNvSpPr/>
          <p:nvPr/>
        </p:nvSpPr>
        <p:spPr>
          <a:xfrm>
            <a:off x="16567696" y="4917504"/>
            <a:ext cx="453405" cy="347663"/>
          </a:xfrm>
          <a:prstGeom prst="rect">
            <a:avLst/>
          </a:prstGeom>
          <a:noFill/>
          <a:ln/>
        </p:spPr>
        <p:txBody>
          <a:bodyPr wrap="square" lIns="25400" tIns="25400" rIns="25400" bIns="25400" rtlCol="0" anchor="t">
            <a:normAutofit/>
          </a:bodyPr>
          <a:lstStyle/>
          <a:p>
            <a:pPr algn="ctr" indent="0" marL="0">
              <a:buNone/>
            </a:pPr>
            <a:r>
              <a:rPr lang="en-US" sz="1875" dirty="0">
                <a:solidFill>
                  <a:srgbClr val="63737F"/>
                </a:solidFill>
                <a:latin typeface="Courier New" pitchFamily="34" charset="0"/>
                <a:ea typeface="Courier New" pitchFamily="34" charset="-122"/>
                <a:cs typeface="Courier New" pitchFamily="34" charset="-120"/>
              </a:rPr>
              <a:t>C</a:t>
            </a:r>
            <a:endParaRPr lang="en-US" sz="1875" dirty="0"/>
          </a:p>
        </p:txBody>
      </p:sp>
      <p:sp>
        <p:nvSpPr>
          <p:cNvPr id="52" name="Shape 50"/>
          <p:cNvSpPr/>
          <p:nvPr/>
        </p:nvSpPr>
        <p:spPr>
          <a:xfrm>
            <a:off x="9170715" y="6003354"/>
            <a:ext cx="5768206" cy="9525"/>
          </a:xfrm>
          <a:prstGeom prst="rect">
            <a:avLst/>
          </a:prstGeom>
          <a:solidFill>
            <a:srgbClr val="EAEFF2"/>
          </a:solidFill>
          <a:ln/>
        </p:spPr>
      </p:sp>
      <p:sp>
        <p:nvSpPr>
          <p:cNvPr id="53" name="Text 51"/>
          <p:cNvSpPr/>
          <p:nvPr/>
        </p:nvSpPr>
        <p:spPr>
          <a:xfrm>
            <a:off x="9418365" y="5541392"/>
            <a:ext cx="54459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25384A"/>
                </a:solidFill>
                <a:latin typeface="Courier New" pitchFamily="34" charset="0"/>
                <a:ea typeface="Courier New" pitchFamily="34" charset="-122"/>
                <a:cs typeface="Courier New" pitchFamily="34" charset="-120"/>
              </a:rPr>
              <a:t>Disulfide loss</a:t>
            </a:r>
            <a:endParaRPr lang="en-US" sz="1875" dirty="0"/>
          </a:p>
        </p:txBody>
      </p:sp>
      <p:sp>
        <p:nvSpPr>
          <p:cNvPr id="54" name="Shape 52"/>
          <p:cNvSpPr/>
          <p:nvPr/>
        </p:nvSpPr>
        <p:spPr>
          <a:xfrm>
            <a:off x="14938921" y="6003354"/>
            <a:ext cx="1419225" cy="9525"/>
          </a:xfrm>
          <a:prstGeom prst="rect">
            <a:avLst/>
          </a:prstGeom>
          <a:solidFill>
            <a:srgbClr val="EAEFF2"/>
          </a:solidFill>
          <a:ln/>
        </p:spPr>
      </p:sp>
      <p:sp>
        <p:nvSpPr>
          <p:cNvPr id="55" name="Text 53"/>
          <p:cNvSpPr/>
          <p:nvPr/>
        </p:nvSpPr>
        <p:spPr>
          <a:xfrm>
            <a:off x="15072271" y="5541392"/>
            <a:ext cx="1076325" cy="347663"/>
          </a:xfrm>
          <a:prstGeom prst="rect">
            <a:avLst/>
          </a:prstGeom>
          <a:noFill/>
          <a:ln/>
        </p:spPr>
        <p:txBody>
          <a:bodyPr wrap="square" lIns="25400" tIns="25400" rIns="25400" bIns="25400" rtlCol="0" anchor="t">
            <a:normAutofit/>
          </a:bodyPr>
          <a:lstStyle/>
          <a:p>
            <a:pPr algn="r" indent="0" marL="0">
              <a:buNone/>
            </a:pPr>
            <a:r>
              <a:rPr lang="en-US" sz="1875" dirty="0">
                <a:solidFill>
                  <a:srgbClr val="B0553A"/>
                </a:solidFill>
                <a:latin typeface="Courier New" pitchFamily="34" charset="0"/>
                <a:ea typeface="Courier New" pitchFamily="34" charset="-122"/>
                <a:cs typeface="Courier New" pitchFamily="34" charset="-120"/>
              </a:rPr>
              <a:t>−31.990</a:t>
            </a:r>
            <a:endParaRPr lang="en-US" sz="1875" dirty="0"/>
          </a:p>
        </p:txBody>
      </p:sp>
      <p:sp>
        <p:nvSpPr>
          <p:cNvPr id="56" name="Shape 54"/>
          <p:cNvSpPr/>
          <p:nvPr/>
        </p:nvSpPr>
        <p:spPr>
          <a:xfrm>
            <a:off x="16358146" y="6003354"/>
            <a:ext cx="872505" cy="9525"/>
          </a:xfrm>
          <a:prstGeom prst="rect">
            <a:avLst/>
          </a:prstGeom>
          <a:solidFill>
            <a:srgbClr val="EAEFF2"/>
          </a:solidFill>
          <a:ln/>
        </p:spPr>
      </p:sp>
      <p:sp>
        <p:nvSpPr>
          <p:cNvPr id="57" name="Text 55"/>
          <p:cNvSpPr/>
          <p:nvPr/>
        </p:nvSpPr>
        <p:spPr>
          <a:xfrm>
            <a:off x="16567696" y="5541392"/>
            <a:ext cx="453405" cy="347663"/>
          </a:xfrm>
          <a:prstGeom prst="rect">
            <a:avLst/>
          </a:prstGeom>
          <a:noFill/>
          <a:ln/>
        </p:spPr>
        <p:txBody>
          <a:bodyPr wrap="square" lIns="25400" tIns="25400" rIns="25400" bIns="25400" rtlCol="0" anchor="t">
            <a:normAutofit/>
          </a:bodyPr>
          <a:lstStyle/>
          <a:p>
            <a:pPr algn="ctr" indent="0" marL="0">
              <a:buNone/>
            </a:pPr>
            <a:r>
              <a:rPr lang="en-US" sz="1875" dirty="0">
                <a:solidFill>
                  <a:srgbClr val="63737F"/>
                </a:solidFill>
                <a:latin typeface="Courier New" pitchFamily="34" charset="0"/>
                <a:ea typeface="Courier New" pitchFamily="34" charset="-122"/>
                <a:cs typeface="Courier New" pitchFamily="34" charset="-120"/>
              </a:rPr>
              <a:t>C</a:t>
            </a:r>
            <a:endParaRPr lang="en-US" sz="1875" dirty="0"/>
          </a:p>
        </p:txBody>
      </p:sp>
      <p:sp>
        <p:nvSpPr>
          <p:cNvPr id="58" name="Text 56"/>
          <p:cNvSpPr/>
          <p:nvPr/>
        </p:nvSpPr>
        <p:spPr>
          <a:xfrm>
            <a:off x="9418365" y="6165279"/>
            <a:ext cx="544595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25384A"/>
                </a:solidFill>
                <a:latin typeface="Courier New" pitchFamily="34" charset="0"/>
                <a:ea typeface="Courier New" pitchFamily="34" charset="-122"/>
                <a:cs typeface="Courier New" pitchFamily="34" charset="-120"/>
              </a:rPr>
              <a:t>Conjugation-site deamidation</a:t>
            </a:r>
            <a:endParaRPr lang="en-US" sz="1875" dirty="0"/>
          </a:p>
        </p:txBody>
      </p:sp>
      <p:sp>
        <p:nvSpPr>
          <p:cNvPr id="59" name="Text 57"/>
          <p:cNvSpPr/>
          <p:nvPr/>
        </p:nvSpPr>
        <p:spPr>
          <a:xfrm>
            <a:off x="15072271" y="6165279"/>
            <a:ext cx="1076325" cy="347663"/>
          </a:xfrm>
          <a:prstGeom prst="rect">
            <a:avLst/>
          </a:prstGeom>
          <a:noFill/>
          <a:ln/>
        </p:spPr>
        <p:txBody>
          <a:bodyPr wrap="square" lIns="25400" tIns="25400" rIns="25400" bIns="25400" rtlCol="0" anchor="t">
            <a:normAutofit/>
          </a:bodyPr>
          <a:lstStyle/>
          <a:p>
            <a:pPr algn="r" indent="0" marL="0">
              <a:buNone/>
            </a:pPr>
            <a:r>
              <a:rPr lang="en-US" sz="1875" dirty="0">
                <a:solidFill>
                  <a:srgbClr val="1F7A6D"/>
                </a:solidFill>
                <a:latin typeface="Courier New" pitchFamily="34" charset="0"/>
                <a:ea typeface="Courier New" pitchFamily="34" charset="-122"/>
                <a:cs typeface="Courier New" pitchFamily="34" charset="-120"/>
              </a:rPr>
              <a:t>+0.984</a:t>
            </a:r>
            <a:endParaRPr lang="en-US" sz="1875" dirty="0"/>
          </a:p>
        </p:txBody>
      </p:sp>
      <p:sp>
        <p:nvSpPr>
          <p:cNvPr id="60" name="Text 58"/>
          <p:cNvSpPr/>
          <p:nvPr/>
        </p:nvSpPr>
        <p:spPr>
          <a:xfrm>
            <a:off x="16567696" y="6165279"/>
            <a:ext cx="453405" cy="347663"/>
          </a:xfrm>
          <a:prstGeom prst="rect">
            <a:avLst/>
          </a:prstGeom>
          <a:noFill/>
          <a:ln/>
        </p:spPr>
        <p:txBody>
          <a:bodyPr wrap="square" lIns="25400" tIns="25400" rIns="25400" bIns="25400" rtlCol="0" anchor="t">
            <a:normAutofit/>
          </a:bodyPr>
          <a:lstStyle/>
          <a:p>
            <a:pPr algn="ctr" indent="0" marL="0">
              <a:buNone/>
            </a:pPr>
            <a:r>
              <a:rPr lang="en-US" sz="1875" dirty="0">
                <a:solidFill>
                  <a:srgbClr val="63737F"/>
                </a:solidFill>
                <a:latin typeface="Courier New" pitchFamily="34" charset="0"/>
                <a:ea typeface="Courier New" pitchFamily="34" charset="-122"/>
                <a:cs typeface="Courier New" pitchFamily="34" charset="-120"/>
              </a:rPr>
              <a:t>N</a:t>
            </a:r>
            <a:endParaRPr lang="en-US" sz="1875" dirty="0"/>
          </a:p>
        </p:txBody>
      </p:sp>
      <p:sp>
        <p:nvSpPr>
          <p:cNvPr id="61" name="Text 59"/>
          <p:cNvSpPr/>
          <p:nvPr/>
        </p:nvSpPr>
        <p:spPr>
          <a:xfrm>
            <a:off x="9161190" y="6827267"/>
            <a:ext cx="8321356" cy="709613"/>
          </a:xfrm>
          <a:prstGeom prst="rect">
            <a:avLst/>
          </a:prstGeom>
          <a:noFill/>
          <a:ln/>
        </p:spPr>
        <p:txBody>
          <a:bodyPr wrap="square" lIns="25400" tIns="25400" rIns="25400" bIns="25400" rtlCol="0" anchor="t">
            <a:normAutofit/>
          </a:bodyPr>
          <a:lstStyle/>
          <a:p>
            <a:pPr algn="l" indent="0" marL="0">
              <a:lnSpc>
                <a:spcPct val="140000"/>
              </a:lnSpc>
              <a:buNone/>
            </a:pPr>
            <a:r>
              <a:rPr lang="en-US" sz="1875" b="1" dirty="0">
                <a:solidFill>
                  <a:srgbClr val="4A5C6A"/>
                </a:solidFill>
                <a:latin typeface="Arial" pitchFamily="34" charset="0"/>
                <a:ea typeface="Arial" pitchFamily="34" charset="-122"/>
                <a:cs typeface="Arial" pitchFamily="34" charset="-120"/>
              </a:rPr>
              <a:t>Conjugation chemistry: </a:t>
            </a:r>
            <a:pPr algn="l" indent="0" marL="0">
              <a:lnSpc>
                <a:spcPct val="140000"/>
              </a:lnSpc>
              <a:buNone/>
            </a:pPr>
            <a:r>
              <a:rPr lang="en-US" sz="1875" dirty="0">
                <a:solidFill>
                  <a:srgbClr val="4A5C6A"/>
                </a:solidFill>
                <a:latin typeface="Arial" pitchFamily="34" charset="0"/>
                <a:ea typeface="Arial" pitchFamily="34" charset="-122"/>
                <a:cs typeface="Arial" pitchFamily="34" charset="-120"/>
              </a:rPr>
              <a:t>cysteine thiol-maleimide · lysine NHS-ester / hydrazone · site-specific (engineered Cys, ncAA).</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1F7A6D"/>
                </a:solidFill>
                <a:latin typeface="Courier New" pitchFamily="34" charset="0"/>
                <a:ea typeface="Courier New" pitchFamily="34" charset="-122"/>
                <a:cs typeface="Courier New" pitchFamily="34" charset="-120"/>
              </a:rPr>
              <a:t>STEP 03 · SPECIFICITY</a:t>
            </a:r>
            <a:endParaRPr lang="en-US" sz="1800" dirty="0"/>
          </a:p>
        </p:txBody>
      </p:sp>
      <p:sp>
        <p:nvSpPr>
          <p:cNvPr id="3" name="Shape 1"/>
          <p:cNvSpPr/>
          <p:nvPr/>
        </p:nvSpPr>
        <p:spPr>
          <a:xfrm>
            <a:off x="1047750" y="1247775"/>
            <a:ext cx="1257300" cy="57150"/>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4" name="Text 2"/>
          <p:cNvSpPr/>
          <p:nvPr/>
        </p:nvSpPr>
        <p:spPr>
          <a:xfrm>
            <a:off x="1047750" y="1495425"/>
            <a:ext cx="1781175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6293A"/>
                </a:solidFill>
                <a:latin typeface="Arial" pitchFamily="34" charset="0"/>
                <a:ea typeface="Arial" pitchFamily="34" charset="-122"/>
                <a:cs typeface="Arial" pitchFamily="34" charset="-120"/>
              </a:rPr>
              <a:t>Uniqueness &amp; coverage</a:t>
            </a:r>
            <a:endParaRPr lang="en-US" sz="4800" dirty="0"/>
          </a:p>
        </p:txBody>
      </p:sp>
      <p:sp>
        <p:nvSpPr>
          <p:cNvPr id="5" name="Shape 3"/>
          <p:cNvSpPr/>
          <p:nvPr/>
        </p:nvSpPr>
        <p:spPr>
          <a:xfrm>
            <a:off x="1047750" y="4491856"/>
            <a:ext cx="9069660" cy="3058418"/>
          </a:xfrm>
          <a:prstGeom prst="roundRect">
            <a:avLst>
              <a:gd name="adj" fmla="val 4983"/>
            </a:avLst>
          </a:prstGeom>
          <a:solidFill>
            <a:srgbClr val="FFFFFF"/>
          </a:solidFill>
          <a:ln w="9525">
            <a:solidFill>
              <a:srgbClr val="DCE3E7"/>
            </a:solidFill>
            <a:prstDash val="solid"/>
          </a:ln>
        </p:spPr>
      </p:sp>
      <p:sp>
        <p:nvSpPr>
          <p:cNvPr id="6" name="Text 4"/>
          <p:cNvSpPr/>
          <p:nvPr/>
        </p:nvSpPr>
        <p:spPr>
          <a:xfrm>
            <a:off x="1419225" y="4825231"/>
            <a:ext cx="3494901"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16293A"/>
                </a:solidFill>
                <a:latin typeface="Arial" pitchFamily="34" charset="0"/>
                <a:ea typeface="Arial" pitchFamily="34" charset="-122"/>
                <a:cs typeface="Arial" pitchFamily="34" charset="-120"/>
              </a:rPr>
              <a:t>Sequence coverage map</a:t>
            </a:r>
            <a:endParaRPr lang="en-US" sz="2250" dirty="0"/>
          </a:p>
        </p:txBody>
      </p:sp>
      <p:sp>
        <p:nvSpPr>
          <p:cNvPr id="7" name="Text 5"/>
          <p:cNvSpPr/>
          <p:nvPr/>
        </p:nvSpPr>
        <p:spPr>
          <a:xfrm>
            <a:off x="7414171" y="4853806"/>
            <a:ext cx="25649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F7A6D"/>
                </a:solidFill>
                <a:latin typeface="Courier New" pitchFamily="34" charset="0"/>
                <a:ea typeface="Courier New" pitchFamily="34" charset="-122"/>
                <a:cs typeface="Courier New" pitchFamily="34" charset="-120"/>
              </a:rPr>
              <a:t>HC: 74.0% covered</a:t>
            </a:r>
            <a:endParaRPr lang="en-US" sz="1800" dirty="0"/>
          </a:p>
        </p:txBody>
      </p:sp>
      <p:sp>
        <p:nvSpPr>
          <p:cNvPr id="8" name="Shape 6"/>
          <p:cNvSpPr/>
          <p:nvPr/>
        </p:nvSpPr>
        <p:spPr>
          <a:xfrm>
            <a:off x="1419225" y="5344344"/>
            <a:ext cx="8326710" cy="247650"/>
          </a:xfrm>
          <a:prstGeom prst="roundRect">
            <a:avLst>
              <a:gd name="adj" fmla="val 23077"/>
            </a:avLst>
          </a:prstGeom>
          <a:solidFill>
            <a:srgbClr val="DDE4E8"/>
          </a:solidFill>
          <a:ln/>
        </p:spPr>
      </p:sp>
      <p:sp>
        <p:nvSpPr>
          <p:cNvPr id="9" name="Shape 7"/>
          <p:cNvSpPr/>
          <p:nvPr/>
        </p:nvSpPr>
        <p:spPr>
          <a:xfrm>
            <a:off x="1585689" y="5344344"/>
            <a:ext cx="1248966" cy="247650"/>
          </a:xfrm>
          <a:prstGeom prst="rect">
            <a:avLst/>
          </a:prstGeom>
          <a:solidFill>
            <a:srgbClr val="3B528B"/>
          </a:solidFill>
          <a:ln/>
        </p:spPr>
      </p:sp>
      <p:sp>
        <p:nvSpPr>
          <p:cNvPr id="10" name="Shape 8"/>
          <p:cNvSpPr/>
          <p:nvPr/>
        </p:nvSpPr>
        <p:spPr>
          <a:xfrm>
            <a:off x="3084537" y="5344344"/>
            <a:ext cx="1831851" cy="247650"/>
          </a:xfrm>
          <a:prstGeom prst="rect">
            <a:avLst/>
          </a:prstGeom>
          <a:solidFill>
            <a:srgbClr val="21918C"/>
          </a:solidFill>
          <a:ln/>
        </p:spPr>
      </p:sp>
      <p:sp>
        <p:nvSpPr>
          <p:cNvPr id="11" name="Shape 9"/>
          <p:cNvSpPr/>
          <p:nvPr/>
        </p:nvSpPr>
        <p:spPr>
          <a:xfrm>
            <a:off x="5249466" y="5344344"/>
            <a:ext cx="1082427" cy="247650"/>
          </a:xfrm>
          <a:prstGeom prst="rect">
            <a:avLst/>
          </a:prstGeom>
          <a:solidFill>
            <a:srgbClr val="5EA45A"/>
          </a:solidFill>
          <a:ln/>
        </p:spPr>
      </p:sp>
      <p:sp>
        <p:nvSpPr>
          <p:cNvPr id="12" name="Shape 10"/>
          <p:cNvSpPr/>
          <p:nvPr/>
        </p:nvSpPr>
        <p:spPr>
          <a:xfrm>
            <a:off x="6665044" y="5344344"/>
            <a:ext cx="1998390" cy="247650"/>
          </a:xfrm>
          <a:prstGeom prst="rect">
            <a:avLst/>
          </a:prstGeom>
          <a:solidFill>
            <a:srgbClr val="574A78"/>
          </a:solidFill>
          <a:ln/>
        </p:spPr>
      </p:sp>
      <p:sp>
        <p:nvSpPr>
          <p:cNvPr id="13" name="Shape 11"/>
          <p:cNvSpPr/>
          <p:nvPr/>
        </p:nvSpPr>
        <p:spPr>
          <a:xfrm>
            <a:off x="1419225" y="5715819"/>
            <a:ext cx="8326710" cy="247650"/>
          </a:xfrm>
          <a:prstGeom prst="roundRect">
            <a:avLst>
              <a:gd name="adj" fmla="val 23077"/>
            </a:avLst>
          </a:prstGeom>
          <a:solidFill>
            <a:srgbClr val="DDE4E8"/>
          </a:solidFill>
          <a:ln/>
        </p:spPr>
      </p:sp>
      <p:sp>
        <p:nvSpPr>
          <p:cNvPr id="14" name="Shape 12"/>
          <p:cNvSpPr/>
          <p:nvPr/>
        </p:nvSpPr>
        <p:spPr>
          <a:xfrm>
            <a:off x="1918767" y="5715819"/>
            <a:ext cx="1665312" cy="247650"/>
          </a:xfrm>
          <a:prstGeom prst="rect">
            <a:avLst/>
          </a:prstGeom>
          <a:solidFill>
            <a:srgbClr val="21918C"/>
          </a:solidFill>
          <a:ln/>
        </p:spPr>
      </p:sp>
      <p:sp>
        <p:nvSpPr>
          <p:cNvPr id="15" name="Shape 13"/>
          <p:cNvSpPr/>
          <p:nvPr/>
        </p:nvSpPr>
        <p:spPr>
          <a:xfrm>
            <a:off x="3917231" y="5715819"/>
            <a:ext cx="1332235" cy="247650"/>
          </a:xfrm>
          <a:prstGeom prst="rect">
            <a:avLst/>
          </a:prstGeom>
          <a:solidFill>
            <a:srgbClr val="3B528B"/>
          </a:solidFill>
          <a:ln/>
        </p:spPr>
      </p:sp>
      <p:sp>
        <p:nvSpPr>
          <p:cNvPr id="16" name="Shape 14"/>
          <p:cNvSpPr/>
          <p:nvPr/>
        </p:nvSpPr>
        <p:spPr>
          <a:xfrm>
            <a:off x="5749082" y="5715819"/>
            <a:ext cx="2498006" cy="247650"/>
          </a:xfrm>
          <a:prstGeom prst="rect">
            <a:avLst/>
          </a:prstGeom>
          <a:solidFill>
            <a:srgbClr val="5EA45A"/>
          </a:solidFill>
          <a:ln/>
        </p:spPr>
      </p:sp>
      <p:sp>
        <p:nvSpPr>
          <p:cNvPr id="17" name="Shape 15"/>
          <p:cNvSpPr/>
          <p:nvPr/>
        </p:nvSpPr>
        <p:spPr>
          <a:xfrm>
            <a:off x="1419225" y="6087294"/>
            <a:ext cx="8326710" cy="247650"/>
          </a:xfrm>
          <a:prstGeom prst="roundRect">
            <a:avLst>
              <a:gd name="adj" fmla="val 23077"/>
            </a:avLst>
          </a:prstGeom>
          <a:solidFill>
            <a:srgbClr val="DDE4E8"/>
          </a:solidFill>
          <a:ln/>
        </p:spPr>
      </p:sp>
      <p:sp>
        <p:nvSpPr>
          <p:cNvPr id="18" name="Shape 16"/>
          <p:cNvSpPr/>
          <p:nvPr/>
        </p:nvSpPr>
        <p:spPr>
          <a:xfrm>
            <a:off x="1419225" y="6087294"/>
            <a:ext cx="999158" cy="247650"/>
          </a:xfrm>
          <a:prstGeom prst="rect">
            <a:avLst/>
          </a:prstGeom>
          <a:solidFill>
            <a:srgbClr val="574A78"/>
          </a:solidFill>
          <a:ln/>
        </p:spPr>
      </p:sp>
      <p:sp>
        <p:nvSpPr>
          <p:cNvPr id="19" name="Shape 17"/>
          <p:cNvSpPr/>
          <p:nvPr/>
        </p:nvSpPr>
        <p:spPr>
          <a:xfrm>
            <a:off x="2751460" y="6087294"/>
            <a:ext cx="2164928" cy="247650"/>
          </a:xfrm>
          <a:prstGeom prst="rect">
            <a:avLst/>
          </a:prstGeom>
          <a:solidFill>
            <a:srgbClr val="21918C"/>
          </a:solidFill>
          <a:ln/>
        </p:spPr>
      </p:sp>
      <p:sp>
        <p:nvSpPr>
          <p:cNvPr id="20" name="Shape 18"/>
          <p:cNvSpPr/>
          <p:nvPr/>
        </p:nvSpPr>
        <p:spPr>
          <a:xfrm>
            <a:off x="5416004" y="6087294"/>
            <a:ext cx="1498774" cy="247650"/>
          </a:xfrm>
          <a:prstGeom prst="rect">
            <a:avLst/>
          </a:prstGeom>
          <a:solidFill>
            <a:srgbClr val="3B528B"/>
          </a:solidFill>
          <a:ln/>
        </p:spPr>
      </p:sp>
      <p:sp>
        <p:nvSpPr>
          <p:cNvPr id="21" name="Shape 19"/>
          <p:cNvSpPr/>
          <p:nvPr/>
        </p:nvSpPr>
        <p:spPr>
          <a:xfrm>
            <a:off x="7414394" y="6087294"/>
            <a:ext cx="1332235" cy="247650"/>
          </a:xfrm>
          <a:prstGeom prst="rect">
            <a:avLst/>
          </a:prstGeom>
          <a:solidFill>
            <a:srgbClr val="5EA45A"/>
          </a:solidFill>
          <a:ln/>
        </p:spPr>
      </p:sp>
      <p:sp>
        <p:nvSpPr>
          <p:cNvPr id="22" name="Shape 20"/>
          <p:cNvSpPr/>
          <p:nvPr/>
        </p:nvSpPr>
        <p:spPr>
          <a:xfrm>
            <a:off x="1419225" y="6458769"/>
            <a:ext cx="8326710" cy="247650"/>
          </a:xfrm>
          <a:prstGeom prst="roundRect">
            <a:avLst>
              <a:gd name="adj" fmla="val 23077"/>
            </a:avLst>
          </a:prstGeom>
          <a:solidFill>
            <a:srgbClr val="DDE4E8"/>
          </a:solidFill>
          <a:ln/>
        </p:spPr>
      </p:sp>
      <p:sp>
        <p:nvSpPr>
          <p:cNvPr id="23" name="Shape 21"/>
          <p:cNvSpPr/>
          <p:nvPr/>
        </p:nvSpPr>
        <p:spPr>
          <a:xfrm>
            <a:off x="1752228" y="6458769"/>
            <a:ext cx="2331467" cy="247650"/>
          </a:xfrm>
          <a:prstGeom prst="rect">
            <a:avLst/>
          </a:prstGeom>
          <a:solidFill>
            <a:srgbClr val="5EA45A"/>
          </a:solidFill>
          <a:ln/>
        </p:spPr>
      </p:sp>
      <p:sp>
        <p:nvSpPr>
          <p:cNvPr id="24" name="Shape 22"/>
          <p:cNvSpPr/>
          <p:nvPr/>
        </p:nvSpPr>
        <p:spPr>
          <a:xfrm>
            <a:off x="4583311" y="6458769"/>
            <a:ext cx="1165696" cy="247650"/>
          </a:xfrm>
          <a:prstGeom prst="rect">
            <a:avLst/>
          </a:prstGeom>
          <a:solidFill>
            <a:srgbClr val="574A78"/>
          </a:solidFill>
          <a:ln/>
        </p:spPr>
      </p:sp>
      <p:sp>
        <p:nvSpPr>
          <p:cNvPr id="25" name="Shape 23"/>
          <p:cNvSpPr/>
          <p:nvPr/>
        </p:nvSpPr>
        <p:spPr>
          <a:xfrm>
            <a:off x="6248698" y="6458769"/>
            <a:ext cx="1831851" cy="247650"/>
          </a:xfrm>
          <a:prstGeom prst="rect">
            <a:avLst/>
          </a:prstGeom>
          <a:solidFill>
            <a:srgbClr val="21918C"/>
          </a:solidFill>
          <a:ln/>
        </p:spPr>
      </p:sp>
      <p:sp>
        <p:nvSpPr>
          <p:cNvPr id="26" name="Text 24"/>
          <p:cNvSpPr/>
          <p:nvPr/>
        </p:nvSpPr>
        <p:spPr>
          <a:xfrm>
            <a:off x="1419225" y="6896919"/>
            <a:ext cx="915938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3737F"/>
                </a:solidFill>
                <a:latin typeface="Arial" pitchFamily="34" charset="0"/>
                <a:ea typeface="Arial" pitchFamily="34" charset="-122"/>
                <a:cs typeface="Arial" pitchFamily="34" charset="-120"/>
              </a:rPr>
              <a:t>Colour by uniqueness, missed cleavages, or length · 300 dpi PNG export.</a:t>
            </a:r>
            <a:endParaRPr lang="en-US" sz="1800" dirty="0"/>
          </a:p>
        </p:txBody>
      </p:sp>
      <p:sp>
        <p:nvSpPr>
          <p:cNvPr id="27" name="Text 25"/>
          <p:cNvSpPr/>
          <p:nvPr/>
        </p:nvSpPr>
        <p:spPr>
          <a:xfrm>
            <a:off x="10536510" y="4421684"/>
            <a:ext cx="7374114"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16293A"/>
                </a:solidFill>
                <a:latin typeface="Arial" pitchFamily="34" charset="0"/>
                <a:ea typeface="Arial" pitchFamily="34" charset="-122"/>
                <a:cs typeface="Arial" pitchFamily="34" charset="-120"/>
              </a:rPr>
              <a:t>Checked against reference proteomes</a:t>
            </a:r>
            <a:endParaRPr lang="en-US" sz="2250" dirty="0"/>
          </a:p>
        </p:txBody>
      </p:sp>
      <p:sp>
        <p:nvSpPr>
          <p:cNvPr id="28" name="Shape 26"/>
          <p:cNvSpPr/>
          <p:nvPr/>
        </p:nvSpPr>
        <p:spPr>
          <a:xfrm>
            <a:off x="10536510" y="4959846"/>
            <a:ext cx="2145655" cy="1190625"/>
          </a:xfrm>
          <a:prstGeom prst="roundRect">
            <a:avLst>
              <a:gd name="adj" fmla="val 11200"/>
            </a:avLst>
          </a:prstGeom>
          <a:solidFill>
            <a:srgbClr val="FFFFFF"/>
          </a:solidFill>
          <a:ln w="9525">
            <a:solidFill>
              <a:srgbClr val="DCE3E7"/>
            </a:solidFill>
            <a:prstDash val="solid"/>
          </a:ln>
        </p:spPr>
      </p:sp>
      <p:sp>
        <p:nvSpPr>
          <p:cNvPr id="29" name="Text 27"/>
          <p:cNvSpPr/>
          <p:nvPr/>
        </p:nvSpPr>
        <p:spPr>
          <a:xfrm>
            <a:off x="10628300" y="5178921"/>
            <a:ext cx="1962076" cy="447675"/>
          </a:xfrm>
          <a:prstGeom prst="rect">
            <a:avLst/>
          </a:prstGeom>
          <a:noFill/>
          <a:ln/>
        </p:spPr>
        <p:txBody>
          <a:bodyPr wrap="square" lIns="25400" tIns="25400" rIns="25400" bIns="25400" rtlCol="0" anchor="t">
            <a:normAutofit/>
          </a:bodyPr>
          <a:lstStyle/>
          <a:p>
            <a:pPr algn="ctr" indent="0" marL="0">
              <a:buNone/>
            </a:pPr>
            <a:r>
              <a:rPr lang="en-US" sz="2850" b="1" dirty="0">
                <a:solidFill>
                  <a:srgbClr val="16293A"/>
                </a:solidFill>
                <a:latin typeface="Courier New" pitchFamily="34" charset="0"/>
                <a:ea typeface="Courier New" pitchFamily="34" charset="-122"/>
                <a:cs typeface="Courier New" pitchFamily="34" charset="-120"/>
              </a:rPr>
              <a:t>20.4k</a:t>
            </a:r>
            <a:endParaRPr lang="en-US" sz="2850" dirty="0"/>
          </a:p>
        </p:txBody>
      </p:sp>
      <p:sp>
        <p:nvSpPr>
          <p:cNvPr id="30" name="Text 28"/>
          <p:cNvSpPr/>
          <p:nvPr/>
        </p:nvSpPr>
        <p:spPr>
          <a:xfrm>
            <a:off x="10628300" y="5645646"/>
            <a:ext cx="1962076" cy="323850"/>
          </a:xfrm>
          <a:prstGeom prst="rect">
            <a:avLst/>
          </a:prstGeom>
          <a:noFill/>
          <a:ln/>
        </p:spPr>
        <p:txBody>
          <a:bodyPr wrap="square" lIns="25400" tIns="25400" rIns="25400" bIns="25400" rtlCol="0" anchor="t">
            <a:normAutofit/>
          </a:bodyPr>
          <a:lstStyle/>
          <a:p>
            <a:pPr algn="ctr" indent="0" marL="0">
              <a:buNone/>
            </a:pPr>
            <a:r>
              <a:rPr lang="en-US" sz="1725" dirty="0">
                <a:solidFill>
                  <a:srgbClr val="63737F"/>
                </a:solidFill>
                <a:latin typeface="Arial" pitchFamily="34" charset="0"/>
                <a:ea typeface="Arial" pitchFamily="34" charset="-122"/>
                <a:cs typeface="Arial" pitchFamily="34" charset="-120"/>
              </a:rPr>
              <a:t>Human</a:t>
            </a:r>
            <a:endParaRPr lang="en-US" sz="1725" dirty="0"/>
          </a:p>
        </p:txBody>
      </p:sp>
      <p:sp>
        <p:nvSpPr>
          <p:cNvPr id="31" name="Shape 29"/>
          <p:cNvSpPr/>
          <p:nvPr/>
        </p:nvSpPr>
        <p:spPr>
          <a:xfrm>
            <a:off x="12815515" y="4959846"/>
            <a:ext cx="2145729" cy="1190625"/>
          </a:xfrm>
          <a:prstGeom prst="roundRect">
            <a:avLst>
              <a:gd name="adj" fmla="val 11200"/>
            </a:avLst>
          </a:prstGeom>
          <a:solidFill>
            <a:srgbClr val="FFFFFF"/>
          </a:solidFill>
          <a:ln w="9525">
            <a:solidFill>
              <a:srgbClr val="DCE3E7"/>
            </a:solidFill>
            <a:prstDash val="solid"/>
          </a:ln>
        </p:spPr>
      </p:sp>
      <p:sp>
        <p:nvSpPr>
          <p:cNvPr id="32" name="Text 30"/>
          <p:cNvSpPr/>
          <p:nvPr/>
        </p:nvSpPr>
        <p:spPr>
          <a:xfrm>
            <a:off x="12907301" y="5178921"/>
            <a:ext cx="1962157" cy="447675"/>
          </a:xfrm>
          <a:prstGeom prst="rect">
            <a:avLst/>
          </a:prstGeom>
          <a:noFill/>
          <a:ln/>
        </p:spPr>
        <p:txBody>
          <a:bodyPr wrap="square" lIns="25400" tIns="25400" rIns="25400" bIns="25400" rtlCol="0" anchor="t">
            <a:normAutofit/>
          </a:bodyPr>
          <a:lstStyle/>
          <a:p>
            <a:pPr algn="ctr" indent="0" marL="0">
              <a:buNone/>
            </a:pPr>
            <a:r>
              <a:rPr lang="en-US" sz="2850" b="1" dirty="0">
                <a:solidFill>
                  <a:srgbClr val="16293A"/>
                </a:solidFill>
                <a:latin typeface="Courier New" pitchFamily="34" charset="0"/>
                <a:ea typeface="Courier New" pitchFamily="34" charset="-122"/>
                <a:cs typeface="Courier New" pitchFamily="34" charset="-120"/>
              </a:rPr>
              <a:t>1.2k</a:t>
            </a:r>
            <a:endParaRPr lang="en-US" sz="2850" dirty="0"/>
          </a:p>
        </p:txBody>
      </p:sp>
      <p:sp>
        <p:nvSpPr>
          <p:cNvPr id="33" name="Text 31"/>
          <p:cNvSpPr/>
          <p:nvPr/>
        </p:nvSpPr>
        <p:spPr>
          <a:xfrm>
            <a:off x="12907301" y="5645646"/>
            <a:ext cx="1962157" cy="323850"/>
          </a:xfrm>
          <a:prstGeom prst="rect">
            <a:avLst/>
          </a:prstGeom>
          <a:noFill/>
          <a:ln/>
        </p:spPr>
        <p:txBody>
          <a:bodyPr wrap="square" lIns="25400" tIns="25400" rIns="25400" bIns="25400" rtlCol="0" anchor="t">
            <a:normAutofit/>
          </a:bodyPr>
          <a:lstStyle/>
          <a:p>
            <a:pPr algn="ctr" indent="0" marL="0">
              <a:buNone/>
            </a:pPr>
            <a:r>
              <a:rPr lang="en-US" sz="1725" dirty="0">
                <a:solidFill>
                  <a:srgbClr val="63737F"/>
                </a:solidFill>
                <a:latin typeface="Arial" pitchFamily="34" charset="0"/>
                <a:ea typeface="Arial" pitchFamily="34" charset="-122"/>
                <a:cs typeface="Arial" pitchFamily="34" charset="-120"/>
              </a:rPr>
              <a:t>Cyno</a:t>
            </a:r>
            <a:endParaRPr lang="en-US" sz="1725" dirty="0"/>
          </a:p>
        </p:txBody>
      </p:sp>
      <p:sp>
        <p:nvSpPr>
          <p:cNvPr id="34" name="Shape 32"/>
          <p:cNvSpPr/>
          <p:nvPr/>
        </p:nvSpPr>
        <p:spPr>
          <a:xfrm>
            <a:off x="15094595" y="4959846"/>
            <a:ext cx="2145655" cy="1190625"/>
          </a:xfrm>
          <a:prstGeom prst="roundRect">
            <a:avLst>
              <a:gd name="adj" fmla="val 11200"/>
            </a:avLst>
          </a:prstGeom>
          <a:solidFill>
            <a:srgbClr val="FFFFFF"/>
          </a:solidFill>
          <a:ln w="9525">
            <a:solidFill>
              <a:srgbClr val="DCE3E7"/>
            </a:solidFill>
            <a:prstDash val="solid"/>
          </a:ln>
        </p:spPr>
      </p:sp>
      <p:sp>
        <p:nvSpPr>
          <p:cNvPr id="35" name="Text 33"/>
          <p:cNvSpPr/>
          <p:nvPr/>
        </p:nvSpPr>
        <p:spPr>
          <a:xfrm>
            <a:off x="15186385" y="5178921"/>
            <a:ext cx="1962076" cy="447675"/>
          </a:xfrm>
          <a:prstGeom prst="rect">
            <a:avLst/>
          </a:prstGeom>
          <a:noFill/>
          <a:ln/>
        </p:spPr>
        <p:txBody>
          <a:bodyPr wrap="square" lIns="25400" tIns="25400" rIns="25400" bIns="25400" rtlCol="0" anchor="t">
            <a:normAutofit/>
          </a:bodyPr>
          <a:lstStyle/>
          <a:p>
            <a:pPr algn="ctr" indent="0" marL="0">
              <a:buNone/>
            </a:pPr>
            <a:r>
              <a:rPr lang="en-US" sz="2850" b="1" dirty="0">
                <a:solidFill>
                  <a:srgbClr val="16293A"/>
                </a:solidFill>
                <a:latin typeface="Courier New" pitchFamily="34" charset="0"/>
                <a:ea typeface="Courier New" pitchFamily="34" charset="-122"/>
                <a:cs typeface="Courier New" pitchFamily="34" charset="-120"/>
              </a:rPr>
              <a:t>8.2k</a:t>
            </a:r>
            <a:endParaRPr lang="en-US" sz="2850" dirty="0"/>
          </a:p>
        </p:txBody>
      </p:sp>
      <p:sp>
        <p:nvSpPr>
          <p:cNvPr id="36" name="Text 34"/>
          <p:cNvSpPr/>
          <p:nvPr/>
        </p:nvSpPr>
        <p:spPr>
          <a:xfrm>
            <a:off x="15186385" y="5645646"/>
            <a:ext cx="1962076" cy="323850"/>
          </a:xfrm>
          <a:prstGeom prst="rect">
            <a:avLst/>
          </a:prstGeom>
          <a:noFill/>
          <a:ln/>
        </p:spPr>
        <p:txBody>
          <a:bodyPr wrap="square" lIns="25400" tIns="25400" rIns="25400" bIns="25400" rtlCol="0" anchor="t">
            <a:normAutofit/>
          </a:bodyPr>
          <a:lstStyle/>
          <a:p>
            <a:pPr algn="ctr" indent="0" marL="0">
              <a:buNone/>
            </a:pPr>
            <a:r>
              <a:rPr lang="en-US" sz="1725" dirty="0">
                <a:solidFill>
                  <a:srgbClr val="63737F"/>
                </a:solidFill>
                <a:latin typeface="Arial" pitchFamily="34" charset="0"/>
                <a:ea typeface="Arial" pitchFamily="34" charset="-122"/>
                <a:cs typeface="Arial" pitchFamily="34" charset="-120"/>
              </a:rPr>
              <a:t>Rat</a:t>
            </a:r>
            <a:endParaRPr lang="en-US" sz="1725" dirty="0"/>
          </a:p>
        </p:txBody>
      </p:sp>
      <p:sp>
        <p:nvSpPr>
          <p:cNvPr id="37" name="Text 35"/>
          <p:cNvSpPr/>
          <p:nvPr/>
        </p:nvSpPr>
        <p:spPr>
          <a:xfrm>
            <a:off x="10536510" y="6360021"/>
            <a:ext cx="206350" cy="371475"/>
          </a:xfrm>
          <a:prstGeom prst="rect">
            <a:avLst/>
          </a:prstGeom>
          <a:noFill/>
          <a:ln/>
        </p:spPr>
        <p:txBody>
          <a:bodyPr wrap="square" lIns="25400" tIns="25400" rIns="25400" bIns="25400" rtlCol="0" anchor="t">
            <a:normAutofit/>
          </a:bodyPr>
          <a:lstStyle/>
          <a:p>
            <a:pPr algn="l" indent="0" marL="0">
              <a:buNone/>
            </a:pPr>
            <a:r>
              <a:rPr lang="en-US" sz="2025" dirty="0">
                <a:solidFill>
                  <a:srgbClr val="21918C"/>
                </a:solidFill>
                <a:latin typeface="Arial" pitchFamily="34" charset="0"/>
                <a:ea typeface="Arial" pitchFamily="34" charset="-122"/>
                <a:cs typeface="Arial" pitchFamily="34" charset="-120"/>
              </a:rPr>
              <a:t>▪</a:t>
            </a:r>
            <a:endParaRPr lang="en-US" sz="2025" dirty="0"/>
          </a:p>
        </p:txBody>
      </p:sp>
      <p:sp>
        <p:nvSpPr>
          <p:cNvPr id="38" name="Text 36"/>
          <p:cNvSpPr/>
          <p:nvPr/>
        </p:nvSpPr>
        <p:spPr>
          <a:xfrm>
            <a:off x="10800011" y="6360021"/>
            <a:ext cx="6633447" cy="737146"/>
          </a:xfrm>
          <a:prstGeom prst="rect">
            <a:avLst/>
          </a:prstGeom>
          <a:noFill/>
          <a:ln/>
        </p:spPr>
        <p:txBody>
          <a:bodyPr wrap="square" lIns="25400" tIns="25400" rIns="25400" bIns="25400" rtlCol="0" anchor="t">
            <a:normAutofit/>
          </a:bodyPr>
          <a:lstStyle/>
          <a:p>
            <a:pPr algn="l" indent="0" marL="0">
              <a:lnSpc>
                <a:spcPct val="135000"/>
              </a:lnSpc>
              <a:buNone/>
            </a:pPr>
            <a:r>
              <a:rPr lang="en-US" sz="2025" b="1" dirty="0">
                <a:solidFill>
                  <a:srgbClr val="25384A"/>
                </a:solidFill>
                <a:latin typeface="Arial" pitchFamily="34" charset="0"/>
                <a:ea typeface="Arial" pitchFamily="34" charset="-122"/>
                <a:cs typeface="Arial" pitchFamily="34" charset="-120"/>
              </a:rPr>
              <a:t>Cross-species co-uniqueness </a:t>
            </a:r>
            <a:pPr algn="l" indent="0" marL="0">
              <a:lnSpc>
                <a:spcPct val="135000"/>
              </a:lnSpc>
              <a:buNone/>
            </a:pPr>
            <a:r>
              <a:rPr lang="en-US" sz="2025" dirty="0">
                <a:solidFill>
                  <a:srgbClr val="25384A"/>
                </a:solidFill>
                <a:latin typeface="Arial" pitchFamily="34" charset="0"/>
                <a:ea typeface="Arial" pitchFamily="34" charset="-122"/>
                <a:cs typeface="Arial" pitchFamily="34" charset="-120"/>
              </a:rPr>
              <a:t>— unique across all selected species at once.</a:t>
            </a:r>
            <a:endParaRPr lang="en-US" sz="2025" dirty="0"/>
          </a:p>
        </p:txBody>
      </p:sp>
      <p:sp>
        <p:nvSpPr>
          <p:cNvPr id="39" name="Text 37"/>
          <p:cNvSpPr/>
          <p:nvPr/>
        </p:nvSpPr>
        <p:spPr>
          <a:xfrm>
            <a:off x="10536510" y="7268617"/>
            <a:ext cx="206350" cy="371475"/>
          </a:xfrm>
          <a:prstGeom prst="rect">
            <a:avLst/>
          </a:prstGeom>
          <a:noFill/>
          <a:ln/>
        </p:spPr>
        <p:txBody>
          <a:bodyPr wrap="square" lIns="25400" tIns="25400" rIns="25400" bIns="25400" rtlCol="0" anchor="t">
            <a:normAutofit/>
          </a:bodyPr>
          <a:lstStyle/>
          <a:p>
            <a:pPr algn="l" indent="0" marL="0">
              <a:buNone/>
            </a:pPr>
            <a:r>
              <a:rPr lang="en-US" sz="2025" dirty="0">
                <a:solidFill>
                  <a:srgbClr val="21918C"/>
                </a:solidFill>
                <a:latin typeface="Arial" pitchFamily="34" charset="0"/>
                <a:ea typeface="Arial" pitchFamily="34" charset="-122"/>
                <a:cs typeface="Arial" pitchFamily="34" charset="-120"/>
              </a:rPr>
              <a:t>▪</a:t>
            </a:r>
            <a:endParaRPr lang="en-US" sz="2025" dirty="0"/>
          </a:p>
        </p:txBody>
      </p:sp>
      <p:sp>
        <p:nvSpPr>
          <p:cNvPr id="40" name="Text 38"/>
          <p:cNvSpPr/>
          <p:nvPr/>
        </p:nvSpPr>
        <p:spPr>
          <a:xfrm>
            <a:off x="10800011" y="7268617"/>
            <a:ext cx="6609256" cy="390004"/>
          </a:xfrm>
          <a:prstGeom prst="rect">
            <a:avLst/>
          </a:prstGeom>
          <a:noFill/>
          <a:ln/>
        </p:spPr>
        <p:txBody>
          <a:bodyPr wrap="square" lIns="25400" tIns="25400" rIns="25400" bIns="25400" rtlCol="0" anchor="t">
            <a:normAutofit/>
          </a:bodyPr>
          <a:lstStyle/>
          <a:p>
            <a:pPr algn="l" indent="0" marL="0">
              <a:lnSpc>
                <a:spcPct val="135000"/>
              </a:lnSpc>
              <a:buNone/>
            </a:pPr>
            <a:r>
              <a:rPr lang="en-US" sz="2025" b="1" dirty="0">
                <a:solidFill>
                  <a:srgbClr val="25384A"/>
                </a:solidFill>
                <a:latin typeface="Arial" pitchFamily="34" charset="0"/>
                <a:ea typeface="Arial" pitchFamily="34" charset="-122"/>
                <a:cs typeface="Arial" pitchFamily="34" charset="-120"/>
              </a:rPr>
              <a:t>cRAP contaminants </a:t>
            </a:r>
            <a:pPr algn="l" indent="0" marL="0">
              <a:lnSpc>
                <a:spcPct val="135000"/>
              </a:lnSpc>
              <a:buNone/>
            </a:pPr>
            <a:r>
              <a:rPr lang="en-US" sz="2025" dirty="0">
                <a:solidFill>
                  <a:srgbClr val="25384A"/>
                </a:solidFill>
                <a:latin typeface="Arial" pitchFamily="34" charset="0"/>
                <a:ea typeface="Arial" pitchFamily="34" charset="-122"/>
                <a:cs typeface="Arial" pitchFamily="34" charset="-120"/>
              </a:rPr>
              <a:t>flagged in the background build.</a:t>
            </a:r>
            <a:endParaRPr lang="en-US" sz="20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1F7A6D"/>
                </a:solidFill>
                <a:latin typeface="Courier New" pitchFamily="34" charset="0"/>
                <a:ea typeface="Courier New" pitchFamily="34" charset="-122"/>
                <a:cs typeface="Courier New" pitchFamily="34" charset="-120"/>
              </a:rPr>
              <a:t>STEPS 04–05 · EXPORT</a:t>
            </a:r>
            <a:endParaRPr lang="en-US" sz="1800" dirty="0"/>
          </a:p>
        </p:txBody>
      </p:sp>
      <p:sp>
        <p:nvSpPr>
          <p:cNvPr id="3" name="Shape 1"/>
          <p:cNvSpPr/>
          <p:nvPr/>
        </p:nvSpPr>
        <p:spPr>
          <a:xfrm>
            <a:off x="1047750" y="1247775"/>
            <a:ext cx="1257300" cy="57150"/>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4" name="Text 2"/>
          <p:cNvSpPr/>
          <p:nvPr/>
        </p:nvSpPr>
        <p:spPr>
          <a:xfrm>
            <a:off x="1047750" y="1495425"/>
            <a:ext cx="1781175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6293A"/>
                </a:solidFill>
                <a:latin typeface="Arial" pitchFamily="34" charset="0"/>
                <a:ea typeface="Arial" pitchFamily="34" charset="-122"/>
                <a:cs typeface="Arial" pitchFamily="34" charset="-120"/>
              </a:rPr>
              <a:t>Instrument-ready export</a:t>
            </a:r>
            <a:endParaRPr lang="en-US" sz="4800" dirty="0"/>
          </a:p>
        </p:txBody>
      </p:sp>
      <p:sp>
        <p:nvSpPr>
          <p:cNvPr id="5" name="Text 3"/>
          <p:cNvSpPr/>
          <p:nvPr/>
        </p:nvSpPr>
        <p:spPr>
          <a:xfrm>
            <a:off x="1047750" y="3927946"/>
            <a:ext cx="9542874"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16293A"/>
                </a:solidFill>
                <a:latin typeface="Arial" pitchFamily="34" charset="0"/>
                <a:ea typeface="Arial" pitchFamily="34" charset="-122"/>
                <a:cs typeface="Arial" pitchFamily="34" charset="-120"/>
              </a:rPr>
              <a:t>Six instrument families</a:t>
            </a:r>
            <a:endParaRPr lang="en-US" sz="2250" dirty="0"/>
          </a:p>
        </p:txBody>
      </p:sp>
      <p:sp>
        <p:nvSpPr>
          <p:cNvPr id="6" name="Shape 4"/>
          <p:cNvSpPr/>
          <p:nvPr/>
        </p:nvSpPr>
        <p:spPr>
          <a:xfrm>
            <a:off x="1047750" y="4466109"/>
            <a:ext cx="4261470" cy="1114425"/>
          </a:xfrm>
          <a:prstGeom prst="roundRect">
            <a:avLst>
              <a:gd name="adj" fmla="val 11966"/>
            </a:avLst>
          </a:prstGeom>
          <a:solidFill>
            <a:srgbClr val="FFFFFF"/>
          </a:solidFill>
          <a:ln w="9525">
            <a:solidFill>
              <a:srgbClr val="DCE3E7"/>
            </a:solidFill>
            <a:prstDash val="solid"/>
          </a:ln>
        </p:spPr>
      </p:sp>
      <p:sp>
        <p:nvSpPr>
          <p:cNvPr id="7" name="Text 5"/>
          <p:cNvSpPr/>
          <p:nvPr/>
        </p:nvSpPr>
        <p:spPr>
          <a:xfrm>
            <a:off x="1304925" y="4704234"/>
            <a:ext cx="4121832"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16293A"/>
                </a:solidFill>
                <a:latin typeface="Arial" pitchFamily="34" charset="0"/>
                <a:ea typeface="Arial" pitchFamily="34" charset="-122"/>
                <a:cs typeface="Arial" pitchFamily="34" charset="-120"/>
              </a:rPr>
              <a:t>Thermo</a:t>
            </a:r>
            <a:endParaRPr lang="en-US" sz="2100" dirty="0"/>
          </a:p>
        </p:txBody>
      </p:sp>
      <p:sp>
        <p:nvSpPr>
          <p:cNvPr id="8" name="Text 6"/>
          <p:cNvSpPr/>
          <p:nvPr/>
        </p:nvSpPr>
        <p:spPr>
          <a:xfrm>
            <a:off x="1304925" y="5070946"/>
            <a:ext cx="4121832"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Arial" pitchFamily="34" charset="0"/>
                <a:ea typeface="Arial" pitchFamily="34" charset="-122"/>
                <a:cs typeface="Arial" pitchFamily="34" charset="-120"/>
              </a:rPr>
              <a:t>Orbitrap / TSQ · linear CE</a:t>
            </a:r>
            <a:endParaRPr lang="en-US" sz="1650" dirty="0"/>
          </a:p>
        </p:txBody>
      </p:sp>
      <p:sp>
        <p:nvSpPr>
          <p:cNvPr id="9" name="Shape 7"/>
          <p:cNvSpPr/>
          <p:nvPr/>
        </p:nvSpPr>
        <p:spPr>
          <a:xfrm>
            <a:off x="5461620" y="4466109"/>
            <a:ext cx="4261470" cy="1114425"/>
          </a:xfrm>
          <a:prstGeom prst="roundRect">
            <a:avLst>
              <a:gd name="adj" fmla="val 11966"/>
            </a:avLst>
          </a:prstGeom>
          <a:solidFill>
            <a:srgbClr val="FFFFFF"/>
          </a:solidFill>
          <a:ln w="9525">
            <a:solidFill>
              <a:srgbClr val="DCE3E7"/>
            </a:solidFill>
            <a:prstDash val="solid"/>
          </a:ln>
        </p:spPr>
      </p:sp>
      <p:sp>
        <p:nvSpPr>
          <p:cNvPr id="10" name="Text 8"/>
          <p:cNvSpPr/>
          <p:nvPr/>
        </p:nvSpPr>
        <p:spPr>
          <a:xfrm>
            <a:off x="5718795" y="4704234"/>
            <a:ext cx="4121832"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16293A"/>
                </a:solidFill>
                <a:latin typeface="Arial" pitchFamily="34" charset="0"/>
                <a:ea typeface="Arial" pitchFamily="34" charset="-122"/>
                <a:cs typeface="Arial" pitchFamily="34" charset="-120"/>
              </a:rPr>
              <a:t>SCIEX</a:t>
            </a:r>
            <a:endParaRPr lang="en-US" sz="2100" dirty="0"/>
          </a:p>
        </p:txBody>
      </p:sp>
      <p:sp>
        <p:nvSpPr>
          <p:cNvPr id="11" name="Text 9"/>
          <p:cNvSpPr/>
          <p:nvPr/>
        </p:nvSpPr>
        <p:spPr>
          <a:xfrm>
            <a:off x="5718795" y="5070946"/>
            <a:ext cx="4121832"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Arial" pitchFamily="34" charset="0"/>
                <a:ea typeface="Arial" pitchFamily="34" charset="-122"/>
                <a:cs typeface="Arial" pitchFamily="34" charset="-120"/>
              </a:rPr>
              <a:t>QTRAP / TripleTOF · MRM &amp; SWATH</a:t>
            </a:r>
            <a:endParaRPr lang="en-US" sz="1650" dirty="0"/>
          </a:p>
        </p:txBody>
      </p:sp>
      <p:sp>
        <p:nvSpPr>
          <p:cNvPr id="12" name="Shape 10"/>
          <p:cNvSpPr/>
          <p:nvPr/>
        </p:nvSpPr>
        <p:spPr>
          <a:xfrm>
            <a:off x="1047750" y="5732934"/>
            <a:ext cx="4261470" cy="1114425"/>
          </a:xfrm>
          <a:prstGeom prst="roundRect">
            <a:avLst>
              <a:gd name="adj" fmla="val 11966"/>
            </a:avLst>
          </a:prstGeom>
          <a:solidFill>
            <a:srgbClr val="FFFFFF"/>
          </a:solidFill>
          <a:ln w="9525">
            <a:solidFill>
              <a:srgbClr val="DCE3E7"/>
            </a:solidFill>
            <a:prstDash val="solid"/>
          </a:ln>
        </p:spPr>
      </p:sp>
      <p:sp>
        <p:nvSpPr>
          <p:cNvPr id="13" name="Text 11"/>
          <p:cNvSpPr/>
          <p:nvPr/>
        </p:nvSpPr>
        <p:spPr>
          <a:xfrm>
            <a:off x="1304925" y="5971059"/>
            <a:ext cx="4121832"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16293A"/>
                </a:solidFill>
                <a:latin typeface="Arial" pitchFamily="34" charset="0"/>
                <a:ea typeface="Arial" pitchFamily="34" charset="-122"/>
                <a:cs typeface="Arial" pitchFamily="34" charset="-120"/>
              </a:rPr>
              <a:t>Bruker</a:t>
            </a:r>
            <a:endParaRPr lang="en-US" sz="2100" dirty="0"/>
          </a:p>
        </p:txBody>
      </p:sp>
      <p:sp>
        <p:nvSpPr>
          <p:cNvPr id="14" name="Text 12"/>
          <p:cNvSpPr/>
          <p:nvPr/>
        </p:nvSpPr>
        <p:spPr>
          <a:xfrm>
            <a:off x="1304925" y="6337771"/>
            <a:ext cx="4121832"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Arial" pitchFamily="34" charset="0"/>
                <a:ea typeface="Arial" pitchFamily="34" charset="-122"/>
                <a:cs typeface="Arial" pitchFamily="34" charset="-120"/>
              </a:rPr>
              <a:t>timsTOF · PASEF</a:t>
            </a:r>
            <a:endParaRPr lang="en-US" sz="1650" dirty="0"/>
          </a:p>
        </p:txBody>
      </p:sp>
      <p:sp>
        <p:nvSpPr>
          <p:cNvPr id="15" name="Shape 13"/>
          <p:cNvSpPr/>
          <p:nvPr/>
        </p:nvSpPr>
        <p:spPr>
          <a:xfrm>
            <a:off x="5461620" y="5732934"/>
            <a:ext cx="4261470" cy="1114425"/>
          </a:xfrm>
          <a:prstGeom prst="roundRect">
            <a:avLst>
              <a:gd name="adj" fmla="val 11966"/>
            </a:avLst>
          </a:prstGeom>
          <a:solidFill>
            <a:srgbClr val="FFFFFF"/>
          </a:solidFill>
          <a:ln w="9525">
            <a:solidFill>
              <a:srgbClr val="DCE3E7"/>
            </a:solidFill>
            <a:prstDash val="solid"/>
          </a:ln>
        </p:spPr>
      </p:sp>
      <p:sp>
        <p:nvSpPr>
          <p:cNvPr id="16" name="Text 14"/>
          <p:cNvSpPr/>
          <p:nvPr/>
        </p:nvSpPr>
        <p:spPr>
          <a:xfrm>
            <a:off x="5718795" y="5971059"/>
            <a:ext cx="4121832"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16293A"/>
                </a:solidFill>
                <a:latin typeface="Arial" pitchFamily="34" charset="0"/>
                <a:ea typeface="Arial" pitchFamily="34" charset="-122"/>
                <a:cs typeface="Arial" pitchFamily="34" charset="-120"/>
              </a:rPr>
              <a:t>Agilent</a:t>
            </a:r>
            <a:endParaRPr lang="en-US" sz="2100" dirty="0"/>
          </a:p>
        </p:txBody>
      </p:sp>
      <p:sp>
        <p:nvSpPr>
          <p:cNvPr id="17" name="Text 15"/>
          <p:cNvSpPr/>
          <p:nvPr/>
        </p:nvSpPr>
        <p:spPr>
          <a:xfrm>
            <a:off x="5718795" y="6337771"/>
            <a:ext cx="4121832"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Arial" pitchFamily="34" charset="0"/>
                <a:ea typeface="Arial" pitchFamily="34" charset="-122"/>
                <a:cs typeface="Arial" pitchFamily="34" charset="-120"/>
              </a:rPr>
              <a:t>QQQ / QTOF · MRM</a:t>
            </a:r>
            <a:endParaRPr lang="en-US" sz="1650" dirty="0"/>
          </a:p>
        </p:txBody>
      </p:sp>
      <p:sp>
        <p:nvSpPr>
          <p:cNvPr id="18" name="Shape 16"/>
          <p:cNvSpPr/>
          <p:nvPr/>
        </p:nvSpPr>
        <p:spPr>
          <a:xfrm>
            <a:off x="1047750" y="6999759"/>
            <a:ext cx="4261470" cy="1114425"/>
          </a:xfrm>
          <a:prstGeom prst="roundRect">
            <a:avLst>
              <a:gd name="adj" fmla="val 11966"/>
            </a:avLst>
          </a:prstGeom>
          <a:solidFill>
            <a:srgbClr val="FFFFFF"/>
          </a:solidFill>
          <a:ln w="9525">
            <a:solidFill>
              <a:srgbClr val="DCE3E7"/>
            </a:solidFill>
            <a:prstDash val="solid"/>
          </a:ln>
        </p:spPr>
      </p:sp>
      <p:sp>
        <p:nvSpPr>
          <p:cNvPr id="19" name="Text 17"/>
          <p:cNvSpPr/>
          <p:nvPr/>
        </p:nvSpPr>
        <p:spPr>
          <a:xfrm>
            <a:off x="1304925" y="7237884"/>
            <a:ext cx="4121832"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16293A"/>
                </a:solidFill>
                <a:latin typeface="Arial" pitchFamily="34" charset="0"/>
                <a:ea typeface="Arial" pitchFamily="34" charset="-122"/>
                <a:cs typeface="Arial" pitchFamily="34" charset="-120"/>
              </a:rPr>
              <a:t>Waters</a:t>
            </a:r>
            <a:endParaRPr lang="en-US" sz="2100" dirty="0"/>
          </a:p>
        </p:txBody>
      </p:sp>
      <p:sp>
        <p:nvSpPr>
          <p:cNvPr id="20" name="Text 18"/>
          <p:cNvSpPr/>
          <p:nvPr/>
        </p:nvSpPr>
        <p:spPr>
          <a:xfrm>
            <a:off x="1304925" y="7604596"/>
            <a:ext cx="4121832"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Arial" pitchFamily="34" charset="0"/>
                <a:ea typeface="Arial" pitchFamily="34" charset="-122"/>
                <a:cs typeface="Arial" pitchFamily="34" charset="-120"/>
              </a:rPr>
              <a:t>Xevo / Synapt · MRM</a:t>
            </a:r>
            <a:endParaRPr lang="en-US" sz="1650" dirty="0"/>
          </a:p>
        </p:txBody>
      </p:sp>
      <p:sp>
        <p:nvSpPr>
          <p:cNvPr id="21" name="Shape 19"/>
          <p:cNvSpPr/>
          <p:nvPr/>
        </p:nvSpPr>
        <p:spPr>
          <a:xfrm>
            <a:off x="5461620" y="6999759"/>
            <a:ext cx="4261470" cy="1114425"/>
          </a:xfrm>
          <a:prstGeom prst="roundRect">
            <a:avLst>
              <a:gd name="adj" fmla="val 11966"/>
            </a:avLst>
          </a:prstGeom>
          <a:solidFill>
            <a:srgbClr val="FFFFFF"/>
          </a:solidFill>
          <a:ln w="9525">
            <a:solidFill>
              <a:srgbClr val="DCE3E7"/>
            </a:solidFill>
            <a:prstDash val="solid"/>
          </a:ln>
        </p:spPr>
      </p:sp>
      <p:sp>
        <p:nvSpPr>
          <p:cNvPr id="22" name="Text 20"/>
          <p:cNvSpPr/>
          <p:nvPr/>
        </p:nvSpPr>
        <p:spPr>
          <a:xfrm>
            <a:off x="5718795" y="7237884"/>
            <a:ext cx="4121832"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16293A"/>
                </a:solidFill>
                <a:latin typeface="Arial" pitchFamily="34" charset="0"/>
                <a:ea typeface="Arial" pitchFamily="34" charset="-122"/>
                <a:cs typeface="Arial" pitchFamily="34" charset="-120"/>
              </a:rPr>
              <a:t>Skyline</a:t>
            </a:r>
            <a:endParaRPr lang="en-US" sz="2100" dirty="0"/>
          </a:p>
        </p:txBody>
      </p:sp>
      <p:sp>
        <p:nvSpPr>
          <p:cNvPr id="23" name="Text 21"/>
          <p:cNvSpPr/>
          <p:nvPr/>
        </p:nvSpPr>
        <p:spPr>
          <a:xfrm>
            <a:off x="5718795" y="7604596"/>
            <a:ext cx="4121832" cy="309563"/>
          </a:xfrm>
          <a:prstGeom prst="rect">
            <a:avLst/>
          </a:prstGeom>
          <a:noFill/>
          <a:ln/>
        </p:spPr>
        <p:txBody>
          <a:bodyPr wrap="square" lIns="25400" tIns="25400" rIns="25400" bIns="25400" rtlCol="0" anchor="t">
            <a:normAutofit/>
          </a:bodyPr>
          <a:lstStyle/>
          <a:p>
            <a:pPr algn="l" indent="0" marL="0">
              <a:buNone/>
            </a:pPr>
            <a:r>
              <a:rPr lang="en-US" sz="1650" dirty="0">
                <a:solidFill>
                  <a:srgbClr val="63737F"/>
                </a:solidFill>
                <a:latin typeface="Arial" pitchFamily="34" charset="0"/>
                <a:ea typeface="Arial" pitchFamily="34" charset="-122"/>
                <a:cs typeface="Arial" pitchFamily="34" charset="-120"/>
              </a:rPr>
              <a:t>Generic · direct import</a:t>
            </a:r>
            <a:endParaRPr lang="en-US" sz="1650" dirty="0"/>
          </a:p>
        </p:txBody>
      </p:sp>
      <p:sp>
        <p:nvSpPr>
          <p:cNvPr id="24" name="Shape 22"/>
          <p:cNvSpPr/>
          <p:nvPr/>
        </p:nvSpPr>
        <p:spPr>
          <a:xfrm>
            <a:off x="10142190" y="4314676"/>
            <a:ext cx="7098060" cy="3412778"/>
          </a:xfrm>
          <a:prstGeom prst="roundRect">
            <a:avLst>
              <a:gd name="adj" fmla="val 4466"/>
            </a:avLst>
          </a:prstGeom>
          <a:solidFill>
            <a:srgbClr val="16293A"/>
          </a:solidFill>
          <a:ln/>
        </p:spPr>
      </p:sp>
      <p:sp>
        <p:nvSpPr>
          <p:cNvPr id="25" name="Text 23"/>
          <p:cNvSpPr/>
          <p:nvPr/>
        </p:nvSpPr>
        <p:spPr>
          <a:xfrm>
            <a:off x="10504140" y="4657576"/>
            <a:ext cx="7011576"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EEF2F4"/>
                </a:solidFill>
                <a:latin typeface="Arial" pitchFamily="34" charset="0"/>
                <a:ea typeface="Arial" pitchFamily="34" charset="-122"/>
                <a:cs typeface="Arial" pitchFamily="34" charset="-120"/>
              </a:rPr>
              <a:t>Heavy labelling (SIL-IS)</a:t>
            </a:r>
            <a:endParaRPr lang="en-US" sz="2250" dirty="0"/>
          </a:p>
        </p:txBody>
      </p:sp>
      <p:sp>
        <p:nvSpPr>
          <p:cNvPr id="26" name="Text 24"/>
          <p:cNvSpPr/>
          <p:nvPr/>
        </p:nvSpPr>
        <p:spPr>
          <a:xfrm>
            <a:off x="10504140" y="5176689"/>
            <a:ext cx="6565385"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EBCC6"/>
                </a:solidFill>
                <a:latin typeface="Arial" pitchFamily="34" charset="0"/>
                <a:ea typeface="Arial" pitchFamily="34" charset="-122"/>
                <a:cs typeface="Arial" pitchFamily="34" charset="-120"/>
              </a:rPr>
              <a:t>Light / heavy peptide pairs for quantitative LC-MS/MS — six presets or custom.</a:t>
            </a:r>
            <a:endParaRPr lang="en-US" sz="1950" dirty="0"/>
          </a:p>
        </p:txBody>
      </p:sp>
      <p:sp>
        <p:nvSpPr>
          <p:cNvPr id="27" name="Shape 25"/>
          <p:cNvSpPr/>
          <p:nvPr/>
        </p:nvSpPr>
        <p:spPr>
          <a:xfrm>
            <a:off x="10504140" y="6451104"/>
            <a:ext cx="6374160" cy="9525"/>
          </a:xfrm>
          <a:prstGeom prst="rect">
            <a:avLst/>
          </a:prstGeom>
          <a:solidFill>
            <a:srgbClr val="FFFFFF">
              <a:alpha val="12000"/>
            </a:srgbClr>
          </a:solidFill>
          <a:ln/>
        </p:spPr>
      </p:sp>
      <p:sp>
        <p:nvSpPr>
          <p:cNvPr id="28" name="Text 26"/>
          <p:cNvSpPr/>
          <p:nvPr/>
        </p:nvSpPr>
        <p:spPr>
          <a:xfrm>
            <a:off x="10504140" y="6060579"/>
            <a:ext cx="196297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DBE4EA"/>
                </a:solidFill>
                <a:latin typeface="Courier New" pitchFamily="34" charset="0"/>
                <a:ea typeface="Courier New" pitchFamily="34" charset="-122"/>
                <a:cs typeface="Courier New" pitchFamily="34" charset="-120"/>
              </a:rPr>
              <a:t>¹³C₆ ¹⁵N₂ Lys</a:t>
            </a:r>
            <a:endParaRPr lang="en-US" sz="1800" dirty="0"/>
          </a:p>
        </p:txBody>
      </p:sp>
      <p:sp>
        <p:nvSpPr>
          <p:cNvPr id="29" name="Text 27"/>
          <p:cNvSpPr/>
          <p:nvPr/>
        </p:nvSpPr>
        <p:spPr>
          <a:xfrm>
            <a:off x="15918135" y="6060579"/>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EC9A0"/>
                </a:solidFill>
                <a:latin typeface="Courier New" pitchFamily="34" charset="0"/>
                <a:ea typeface="Courier New" pitchFamily="34" charset="-122"/>
                <a:cs typeface="Courier New" pitchFamily="34" charset="-120"/>
              </a:rPr>
              <a:t>+8.0142</a:t>
            </a:r>
            <a:endParaRPr lang="en-US" sz="1800" dirty="0"/>
          </a:p>
        </p:txBody>
      </p:sp>
      <p:sp>
        <p:nvSpPr>
          <p:cNvPr id="30" name="Shape 28"/>
          <p:cNvSpPr/>
          <p:nvPr/>
        </p:nvSpPr>
        <p:spPr>
          <a:xfrm>
            <a:off x="10504140" y="6965454"/>
            <a:ext cx="6374160" cy="9525"/>
          </a:xfrm>
          <a:prstGeom prst="rect">
            <a:avLst/>
          </a:prstGeom>
          <a:solidFill>
            <a:srgbClr val="FFFFFF">
              <a:alpha val="12000"/>
            </a:srgbClr>
          </a:solidFill>
          <a:ln/>
        </p:spPr>
      </p:sp>
      <p:sp>
        <p:nvSpPr>
          <p:cNvPr id="31" name="Text 29"/>
          <p:cNvSpPr/>
          <p:nvPr/>
        </p:nvSpPr>
        <p:spPr>
          <a:xfrm>
            <a:off x="10504140" y="6574929"/>
            <a:ext cx="196297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DBE4EA"/>
                </a:solidFill>
                <a:latin typeface="Courier New" pitchFamily="34" charset="0"/>
                <a:ea typeface="Courier New" pitchFamily="34" charset="-122"/>
                <a:cs typeface="Courier New" pitchFamily="34" charset="-120"/>
              </a:rPr>
              <a:t>¹³C₆ ¹⁵N₄ Arg</a:t>
            </a:r>
            <a:endParaRPr lang="en-US" sz="1800" dirty="0"/>
          </a:p>
        </p:txBody>
      </p:sp>
      <p:sp>
        <p:nvSpPr>
          <p:cNvPr id="32" name="Text 30"/>
          <p:cNvSpPr/>
          <p:nvPr/>
        </p:nvSpPr>
        <p:spPr>
          <a:xfrm>
            <a:off x="15780990" y="6574929"/>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EC9A0"/>
                </a:solidFill>
                <a:latin typeface="Courier New" pitchFamily="34" charset="0"/>
                <a:ea typeface="Courier New" pitchFamily="34" charset="-122"/>
                <a:cs typeface="Courier New" pitchFamily="34" charset="-120"/>
              </a:rPr>
              <a:t>+10.0083</a:t>
            </a:r>
            <a:endParaRPr lang="en-US" sz="1800" dirty="0"/>
          </a:p>
        </p:txBody>
      </p:sp>
      <p:sp>
        <p:nvSpPr>
          <p:cNvPr id="33" name="Text 31"/>
          <p:cNvSpPr/>
          <p:nvPr/>
        </p:nvSpPr>
        <p:spPr>
          <a:xfrm>
            <a:off x="10504140" y="7089279"/>
            <a:ext cx="89966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DBE4EA"/>
                </a:solidFill>
                <a:latin typeface="Courier New" pitchFamily="34" charset="0"/>
                <a:ea typeface="Courier New" pitchFamily="34" charset="-122"/>
                <a:cs typeface="Courier New" pitchFamily="34" charset="-120"/>
              </a:rPr>
              <a:t>D₄ Lys</a:t>
            </a:r>
            <a:endParaRPr lang="en-US" sz="1800" dirty="0"/>
          </a:p>
        </p:txBody>
      </p:sp>
      <p:sp>
        <p:nvSpPr>
          <p:cNvPr id="34" name="Text 32"/>
          <p:cNvSpPr/>
          <p:nvPr/>
        </p:nvSpPr>
        <p:spPr>
          <a:xfrm>
            <a:off x="15918135" y="7089279"/>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EC9A0"/>
                </a:solidFill>
                <a:latin typeface="Courier New" pitchFamily="34" charset="0"/>
                <a:ea typeface="Courier New" pitchFamily="34" charset="-122"/>
                <a:cs typeface="Courier New" pitchFamily="34" charset="-120"/>
              </a:rPr>
              <a:t>+4.0251</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1F7A6D"/>
                </a:solidFill>
                <a:latin typeface="Courier New" pitchFamily="34" charset="0"/>
                <a:ea typeface="Courier New" pitchFamily="34" charset="-122"/>
                <a:cs typeface="Courier New" pitchFamily="34" charset="-120"/>
              </a:rPr>
              <a:t>STEP 06 · CONFIRMATION</a:t>
            </a:r>
            <a:endParaRPr lang="en-US" sz="1800" dirty="0"/>
          </a:p>
        </p:txBody>
      </p:sp>
      <p:sp>
        <p:nvSpPr>
          <p:cNvPr id="3" name="Shape 1"/>
          <p:cNvSpPr/>
          <p:nvPr/>
        </p:nvSpPr>
        <p:spPr>
          <a:xfrm>
            <a:off x="1047750" y="1247775"/>
            <a:ext cx="1257300" cy="57150"/>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4" name="Text 2"/>
          <p:cNvSpPr/>
          <p:nvPr/>
        </p:nvSpPr>
        <p:spPr>
          <a:xfrm>
            <a:off x="1047750" y="1495425"/>
            <a:ext cx="1781175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6293A"/>
                </a:solidFill>
                <a:latin typeface="Arial" pitchFamily="34" charset="0"/>
                <a:ea typeface="Arial" pitchFamily="34" charset="-122"/>
                <a:cs typeface="Arial" pitchFamily="34" charset="-120"/>
              </a:rPr>
              <a:t>Confirmation &amp; search</a:t>
            </a:r>
            <a:endParaRPr lang="en-US" sz="4800" dirty="0"/>
          </a:p>
        </p:txBody>
      </p:sp>
      <p:sp>
        <p:nvSpPr>
          <p:cNvPr id="5" name="Shape 3"/>
          <p:cNvSpPr/>
          <p:nvPr/>
        </p:nvSpPr>
        <p:spPr>
          <a:xfrm>
            <a:off x="1047750" y="4438055"/>
            <a:ext cx="3425354" cy="1671638"/>
          </a:xfrm>
          <a:prstGeom prst="roundRect">
            <a:avLst>
              <a:gd name="adj" fmla="val 7977"/>
            </a:avLst>
          </a:prstGeom>
          <a:solidFill>
            <a:srgbClr val="FFFFFF"/>
          </a:solidFill>
          <a:ln w="9525">
            <a:solidFill>
              <a:srgbClr val="DCE3E7"/>
            </a:solidFill>
            <a:prstDash val="solid"/>
          </a:ln>
        </p:spPr>
      </p:sp>
      <p:sp>
        <p:nvSpPr>
          <p:cNvPr id="6" name="Text 4"/>
          <p:cNvSpPr/>
          <p:nvPr/>
        </p:nvSpPr>
        <p:spPr>
          <a:xfrm>
            <a:off x="1343025" y="4733330"/>
            <a:ext cx="3118284" cy="323850"/>
          </a:xfrm>
          <a:prstGeom prst="rect">
            <a:avLst/>
          </a:prstGeom>
          <a:noFill/>
          <a:ln/>
        </p:spPr>
        <p:txBody>
          <a:bodyPr wrap="square" lIns="25400" tIns="25400" rIns="25400" bIns="25400" rtlCol="0" anchor="t">
            <a:normAutofit/>
          </a:bodyPr>
          <a:lstStyle/>
          <a:p>
            <a:pPr algn="l" indent="0" marL="0">
              <a:buNone/>
            </a:pPr>
            <a:r>
              <a:rPr lang="en-US" sz="1725" dirty="0">
                <a:solidFill>
                  <a:srgbClr val="8A99A4"/>
                </a:solidFill>
                <a:latin typeface="Courier New" pitchFamily="34" charset="0"/>
                <a:ea typeface="Courier New" pitchFamily="34" charset="-122"/>
                <a:cs typeface="Courier New" pitchFamily="34" charset="-120"/>
              </a:rPr>
              <a:t>INPUT</a:t>
            </a:r>
            <a:endParaRPr lang="en-US" sz="1725" dirty="0"/>
          </a:p>
        </p:txBody>
      </p:sp>
      <p:sp>
        <p:nvSpPr>
          <p:cNvPr id="7" name="Text 5"/>
          <p:cNvSpPr/>
          <p:nvPr/>
        </p:nvSpPr>
        <p:spPr>
          <a:xfrm>
            <a:off x="1343025" y="5114330"/>
            <a:ext cx="3118284"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6293A"/>
                </a:solidFill>
                <a:latin typeface="Arial" pitchFamily="34" charset="0"/>
                <a:ea typeface="Arial" pitchFamily="34" charset="-122"/>
                <a:cs typeface="Arial" pitchFamily="34" charset="-120"/>
              </a:rPr>
              <a:t>Spectra</a:t>
            </a:r>
            <a:endParaRPr lang="en-US" sz="2175" dirty="0"/>
          </a:p>
        </p:txBody>
      </p:sp>
      <p:sp>
        <p:nvSpPr>
          <p:cNvPr id="8" name="Text 6"/>
          <p:cNvSpPr/>
          <p:nvPr/>
        </p:nvSpPr>
        <p:spPr>
          <a:xfrm>
            <a:off x="1343025" y="5528667"/>
            <a:ext cx="3118284"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3737F"/>
                </a:solidFill>
                <a:latin typeface="Arial" pitchFamily="34" charset="0"/>
                <a:ea typeface="Arial" pitchFamily="34" charset="-122"/>
                <a:cs typeface="Arial" pitchFamily="34" charset="-120"/>
              </a:rPr>
              <a:t>mzML from MSConvert</a:t>
            </a:r>
            <a:endParaRPr lang="en-US" sz="1725" dirty="0"/>
          </a:p>
        </p:txBody>
      </p:sp>
      <p:sp>
        <p:nvSpPr>
          <p:cNvPr id="9" name="Text 7"/>
          <p:cNvSpPr/>
          <p:nvPr/>
        </p:nvSpPr>
        <p:spPr>
          <a:xfrm>
            <a:off x="4644554" y="5073848"/>
            <a:ext cx="381000" cy="438150"/>
          </a:xfrm>
          <a:prstGeom prst="rect">
            <a:avLst/>
          </a:prstGeom>
          <a:noFill/>
          <a:ln/>
        </p:spPr>
        <p:txBody>
          <a:bodyPr wrap="square" lIns="25400" tIns="25400" rIns="25400" bIns="25400" rtlCol="0" anchor="t">
            <a:normAutofit/>
          </a:bodyPr>
          <a:lstStyle/>
          <a:p>
            <a:pPr algn="l" indent="0" marL="0">
              <a:buNone/>
            </a:pPr>
            <a:r>
              <a:rPr lang="en-US" sz="2400" dirty="0">
                <a:solidFill>
                  <a:srgbClr val="9FB0BA"/>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5120804" y="4438055"/>
            <a:ext cx="3992389" cy="1671638"/>
          </a:xfrm>
          <a:prstGeom prst="roundRect">
            <a:avLst>
              <a:gd name="adj" fmla="val 7977"/>
            </a:avLst>
          </a:prstGeom>
          <a:solidFill>
            <a:srgbClr val="FFFFFF"/>
          </a:solidFill>
          <a:ln w="9525">
            <a:solidFill>
              <a:srgbClr val="DCE3E7"/>
            </a:solidFill>
            <a:prstDash val="solid"/>
          </a:ln>
        </p:spPr>
      </p:sp>
      <p:sp>
        <p:nvSpPr>
          <p:cNvPr id="11" name="Text 9"/>
          <p:cNvSpPr/>
          <p:nvPr/>
        </p:nvSpPr>
        <p:spPr>
          <a:xfrm>
            <a:off x="5416079" y="4733330"/>
            <a:ext cx="3742023" cy="323850"/>
          </a:xfrm>
          <a:prstGeom prst="rect">
            <a:avLst/>
          </a:prstGeom>
          <a:noFill/>
          <a:ln/>
        </p:spPr>
        <p:txBody>
          <a:bodyPr wrap="square" lIns="25400" tIns="25400" rIns="25400" bIns="25400" rtlCol="0" anchor="t">
            <a:normAutofit/>
          </a:bodyPr>
          <a:lstStyle/>
          <a:p>
            <a:pPr algn="l" indent="0" marL="0">
              <a:buNone/>
            </a:pPr>
            <a:r>
              <a:rPr lang="en-US" sz="1725" dirty="0">
                <a:solidFill>
                  <a:srgbClr val="8A99A4"/>
                </a:solidFill>
                <a:latin typeface="Courier New" pitchFamily="34" charset="0"/>
                <a:ea typeface="Courier New" pitchFamily="34" charset="-122"/>
                <a:cs typeface="Courier New" pitchFamily="34" charset="-120"/>
              </a:rPr>
              <a:t>SEARCH</a:t>
            </a:r>
            <a:endParaRPr lang="en-US" sz="1725" dirty="0"/>
          </a:p>
        </p:txBody>
      </p:sp>
      <p:sp>
        <p:nvSpPr>
          <p:cNvPr id="12" name="Text 10"/>
          <p:cNvSpPr/>
          <p:nvPr/>
        </p:nvSpPr>
        <p:spPr>
          <a:xfrm>
            <a:off x="5416079" y="5114330"/>
            <a:ext cx="3742023"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6293A"/>
                </a:solidFill>
                <a:latin typeface="Arial" pitchFamily="34" charset="0"/>
                <a:ea typeface="Arial" pitchFamily="34" charset="-122"/>
                <a:cs typeface="Arial" pitchFamily="34" charset="-120"/>
              </a:rPr>
              <a:t>MS Amanda 3.0 </a:t>
            </a:r>
            <a:pPr algn="l" indent="0" marL="0">
              <a:buNone/>
            </a:pPr>
            <a:r>
              <a:rPr lang="en-US" sz="1800" dirty="0">
                <a:solidFill>
                  <a:srgbClr val="63737F"/>
                </a:solidFill>
                <a:latin typeface="Arial" pitchFamily="34" charset="0"/>
                <a:ea typeface="Arial" pitchFamily="34" charset="-122"/>
                <a:cs typeface="Arial" pitchFamily="34" charset="-120"/>
              </a:rPr>
              <a:t>/ Tide · Crux</a:t>
            </a:r>
            <a:endParaRPr lang="en-US" sz="2175" dirty="0"/>
          </a:p>
        </p:txBody>
      </p:sp>
      <p:sp>
        <p:nvSpPr>
          <p:cNvPr id="13" name="Text 11"/>
          <p:cNvSpPr/>
          <p:nvPr/>
        </p:nvSpPr>
        <p:spPr>
          <a:xfrm>
            <a:off x="5416079" y="5528667"/>
            <a:ext cx="3742023" cy="323850"/>
          </a:xfrm>
          <a:prstGeom prst="rect">
            <a:avLst/>
          </a:prstGeom>
          <a:noFill/>
          <a:ln/>
        </p:spPr>
        <p:txBody>
          <a:bodyPr wrap="square" lIns="25400" tIns="25400" rIns="25400" bIns="25400" rtlCol="0" anchor="t">
            <a:normAutofit/>
          </a:bodyPr>
          <a:lstStyle/>
          <a:p>
            <a:pPr algn="l" indent="0" marL="0">
              <a:buNone/>
            </a:pPr>
            <a:r>
              <a:rPr lang="en-US" sz="1725" dirty="0">
                <a:solidFill>
                  <a:srgbClr val="2F9E6F"/>
                </a:solidFill>
                <a:latin typeface="Arial" pitchFamily="34" charset="0"/>
                <a:ea typeface="Arial" pitchFamily="34" charset="-122"/>
                <a:cs typeface="Arial" pitchFamily="34" charset="-120"/>
              </a:rPr>
              <a:t>both free — no licence, no Java</a:t>
            </a:r>
            <a:endParaRPr lang="en-US" sz="1725" dirty="0"/>
          </a:p>
        </p:txBody>
      </p:sp>
      <p:sp>
        <p:nvSpPr>
          <p:cNvPr id="14" name="Text 12"/>
          <p:cNvSpPr/>
          <p:nvPr/>
        </p:nvSpPr>
        <p:spPr>
          <a:xfrm>
            <a:off x="9284643" y="5073848"/>
            <a:ext cx="381000" cy="438150"/>
          </a:xfrm>
          <a:prstGeom prst="rect">
            <a:avLst/>
          </a:prstGeom>
          <a:noFill/>
          <a:ln/>
        </p:spPr>
        <p:txBody>
          <a:bodyPr wrap="square" lIns="25400" tIns="25400" rIns="25400" bIns="25400" rtlCol="0" anchor="t">
            <a:normAutofit/>
          </a:bodyPr>
          <a:lstStyle/>
          <a:p>
            <a:pPr algn="l" indent="0" marL="0">
              <a:buNone/>
            </a:pPr>
            <a:r>
              <a:rPr lang="en-US" sz="2400" dirty="0">
                <a:solidFill>
                  <a:srgbClr val="9FB0BA"/>
                </a:solidFill>
                <a:latin typeface="Arial" pitchFamily="34" charset="0"/>
                <a:ea typeface="Arial" pitchFamily="34" charset="-122"/>
                <a:cs typeface="Arial" pitchFamily="34" charset="-120"/>
              </a:rPr>
              <a:t>→</a:t>
            </a:r>
            <a:endParaRPr lang="en-US" sz="2400" dirty="0"/>
          </a:p>
        </p:txBody>
      </p:sp>
      <p:sp>
        <p:nvSpPr>
          <p:cNvPr id="15" name="Shape 13"/>
          <p:cNvSpPr/>
          <p:nvPr/>
        </p:nvSpPr>
        <p:spPr>
          <a:xfrm>
            <a:off x="9760893" y="4438055"/>
            <a:ext cx="3425354" cy="1671638"/>
          </a:xfrm>
          <a:prstGeom prst="roundRect">
            <a:avLst>
              <a:gd name="adj" fmla="val 7977"/>
            </a:avLst>
          </a:prstGeom>
          <a:solidFill>
            <a:srgbClr val="FFFFFF"/>
          </a:solidFill>
          <a:ln w="9525">
            <a:solidFill>
              <a:srgbClr val="DCE3E7"/>
            </a:solidFill>
            <a:prstDash val="solid"/>
          </a:ln>
        </p:spPr>
      </p:sp>
      <p:sp>
        <p:nvSpPr>
          <p:cNvPr id="16" name="Text 14"/>
          <p:cNvSpPr/>
          <p:nvPr/>
        </p:nvSpPr>
        <p:spPr>
          <a:xfrm>
            <a:off x="10056168" y="4733330"/>
            <a:ext cx="3118284" cy="323850"/>
          </a:xfrm>
          <a:prstGeom prst="rect">
            <a:avLst/>
          </a:prstGeom>
          <a:noFill/>
          <a:ln/>
        </p:spPr>
        <p:txBody>
          <a:bodyPr wrap="square" lIns="25400" tIns="25400" rIns="25400" bIns="25400" rtlCol="0" anchor="t">
            <a:normAutofit/>
          </a:bodyPr>
          <a:lstStyle/>
          <a:p>
            <a:pPr algn="l" indent="0" marL="0">
              <a:buNone/>
            </a:pPr>
            <a:r>
              <a:rPr lang="en-US" sz="1725" dirty="0">
                <a:solidFill>
                  <a:srgbClr val="8A99A4"/>
                </a:solidFill>
                <a:latin typeface="Courier New" pitchFamily="34" charset="0"/>
                <a:ea typeface="Courier New" pitchFamily="34" charset="-122"/>
                <a:cs typeface="Courier New" pitchFamily="34" charset="-120"/>
              </a:rPr>
              <a:t>SCORE</a:t>
            </a:r>
            <a:endParaRPr lang="en-US" sz="1725" dirty="0"/>
          </a:p>
        </p:txBody>
      </p:sp>
      <p:sp>
        <p:nvSpPr>
          <p:cNvPr id="17" name="Text 15"/>
          <p:cNvSpPr/>
          <p:nvPr/>
        </p:nvSpPr>
        <p:spPr>
          <a:xfrm>
            <a:off x="10056168" y="5114330"/>
            <a:ext cx="3118284"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16293A"/>
                </a:solidFill>
                <a:latin typeface="Arial" pitchFamily="34" charset="0"/>
                <a:ea typeface="Arial" pitchFamily="34" charset="-122"/>
                <a:cs typeface="Arial" pitchFamily="34" charset="-120"/>
              </a:rPr>
              <a:t>Target–decoy FDR</a:t>
            </a:r>
            <a:endParaRPr lang="en-US" sz="2175" dirty="0"/>
          </a:p>
        </p:txBody>
      </p:sp>
      <p:sp>
        <p:nvSpPr>
          <p:cNvPr id="18" name="Text 16"/>
          <p:cNvSpPr/>
          <p:nvPr/>
        </p:nvSpPr>
        <p:spPr>
          <a:xfrm>
            <a:off x="10056168" y="5528667"/>
            <a:ext cx="3118284" cy="323850"/>
          </a:xfrm>
          <a:prstGeom prst="rect">
            <a:avLst/>
          </a:prstGeom>
          <a:noFill/>
          <a:ln/>
        </p:spPr>
        <p:txBody>
          <a:bodyPr wrap="square" lIns="25400" tIns="25400" rIns="25400" bIns="25400" rtlCol="0" anchor="t">
            <a:normAutofit/>
          </a:bodyPr>
          <a:lstStyle/>
          <a:p>
            <a:pPr algn="l" indent="0" marL="0">
              <a:buNone/>
            </a:pPr>
            <a:r>
              <a:rPr lang="en-US" sz="1725" dirty="0">
                <a:solidFill>
                  <a:srgbClr val="63737F"/>
                </a:solidFill>
                <a:latin typeface="Arial" pitchFamily="34" charset="0"/>
                <a:ea typeface="Arial" pitchFamily="34" charset="-122"/>
                <a:cs typeface="Arial" pitchFamily="34" charset="-120"/>
              </a:rPr>
              <a:t>dynamic score filter</a:t>
            </a:r>
            <a:endParaRPr lang="en-US" sz="1725" dirty="0"/>
          </a:p>
        </p:txBody>
      </p:sp>
      <p:sp>
        <p:nvSpPr>
          <p:cNvPr id="19" name="Text 17"/>
          <p:cNvSpPr/>
          <p:nvPr/>
        </p:nvSpPr>
        <p:spPr>
          <a:xfrm>
            <a:off x="13357696" y="5073848"/>
            <a:ext cx="381000" cy="438150"/>
          </a:xfrm>
          <a:prstGeom prst="rect">
            <a:avLst/>
          </a:prstGeom>
          <a:noFill/>
          <a:ln/>
        </p:spPr>
        <p:txBody>
          <a:bodyPr wrap="square" lIns="25400" tIns="25400" rIns="25400" bIns="25400" rtlCol="0" anchor="t">
            <a:normAutofit/>
          </a:bodyPr>
          <a:lstStyle/>
          <a:p>
            <a:pPr algn="l" indent="0" marL="0">
              <a:buNone/>
            </a:pPr>
            <a:r>
              <a:rPr lang="en-US" sz="2400" dirty="0">
                <a:solidFill>
                  <a:srgbClr val="9FB0BA"/>
                </a:solidFill>
                <a:latin typeface="Arial" pitchFamily="34" charset="0"/>
                <a:ea typeface="Arial" pitchFamily="34" charset="-122"/>
                <a:cs typeface="Arial" pitchFamily="34" charset="-120"/>
              </a:rPr>
              <a:t>→</a:t>
            </a:r>
            <a:endParaRPr lang="en-US" sz="2400" dirty="0"/>
          </a:p>
        </p:txBody>
      </p:sp>
      <p:sp>
        <p:nvSpPr>
          <p:cNvPr id="20" name="Shape 18"/>
          <p:cNvSpPr/>
          <p:nvPr/>
        </p:nvSpPr>
        <p:spPr>
          <a:xfrm>
            <a:off x="13833946" y="4438055"/>
            <a:ext cx="3406304" cy="1671638"/>
          </a:xfrm>
          <a:prstGeom prst="roundRect">
            <a:avLst>
              <a:gd name="adj" fmla="val 7977"/>
            </a:avLst>
          </a:prstGeom>
          <a:solidFill>
            <a:srgbClr val="16293A"/>
          </a:solidFill>
          <a:ln/>
        </p:spPr>
      </p:sp>
      <p:sp>
        <p:nvSpPr>
          <p:cNvPr id="21" name="Text 19"/>
          <p:cNvSpPr/>
          <p:nvPr/>
        </p:nvSpPr>
        <p:spPr>
          <a:xfrm>
            <a:off x="14119696" y="4723805"/>
            <a:ext cx="3118284" cy="323850"/>
          </a:xfrm>
          <a:prstGeom prst="rect">
            <a:avLst/>
          </a:prstGeom>
          <a:noFill/>
          <a:ln/>
        </p:spPr>
        <p:txBody>
          <a:bodyPr wrap="square" lIns="25400" tIns="25400" rIns="25400" bIns="25400" rtlCol="0" anchor="t">
            <a:normAutofit/>
          </a:bodyPr>
          <a:lstStyle/>
          <a:p>
            <a:pPr algn="l" indent="0" marL="0">
              <a:buNone/>
            </a:pPr>
            <a:r>
              <a:rPr lang="en-US" sz="1725" dirty="0">
                <a:solidFill>
                  <a:srgbClr val="5EC9A0"/>
                </a:solidFill>
                <a:latin typeface="Courier New" pitchFamily="34" charset="0"/>
                <a:ea typeface="Courier New" pitchFamily="34" charset="-122"/>
                <a:cs typeface="Courier New" pitchFamily="34" charset="-120"/>
              </a:rPr>
              <a:t>CROSS-REF</a:t>
            </a:r>
            <a:endParaRPr lang="en-US" sz="1725" dirty="0"/>
          </a:p>
        </p:txBody>
      </p:sp>
      <p:sp>
        <p:nvSpPr>
          <p:cNvPr id="22" name="Text 20"/>
          <p:cNvSpPr/>
          <p:nvPr/>
        </p:nvSpPr>
        <p:spPr>
          <a:xfrm>
            <a:off x="14119696" y="5104805"/>
            <a:ext cx="3118284"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EEF2F4"/>
                </a:solidFill>
                <a:latin typeface="Arial" pitchFamily="34" charset="0"/>
                <a:ea typeface="Arial" pitchFamily="34" charset="-122"/>
                <a:cs typeface="Arial" pitchFamily="34" charset="-120"/>
              </a:rPr>
              <a:t>PSMs ↔ theoretical</a:t>
            </a:r>
            <a:endParaRPr lang="en-US" sz="2175" dirty="0"/>
          </a:p>
        </p:txBody>
      </p:sp>
      <p:sp>
        <p:nvSpPr>
          <p:cNvPr id="23" name="Text 21"/>
          <p:cNvSpPr/>
          <p:nvPr/>
        </p:nvSpPr>
        <p:spPr>
          <a:xfrm>
            <a:off x="14119696" y="5519142"/>
            <a:ext cx="3118284" cy="323850"/>
          </a:xfrm>
          <a:prstGeom prst="rect">
            <a:avLst/>
          </a:prstGeom>
          <a:noFill/>
          <a:ln/>
        </p:spPr>
        <p:txBody>
          <a:bodyPr wrap="square" lIns="25400" tIns="25400" rIns="25400" bIns="25400" rtlCol="0" anchor="t">
            <a:normAutofit/>
          </a:bodyPr>
          <a:lstStyle/>
          <a:p>
            <a:pPr algn="l" indent="0" marL="0">
              <a:buNone/>
            </a:pPr>
            <a:r>
              <a:rPr lang="en-US" sz="1725" dirty="0">
                <a:solidFill>
                  <a:srgbClr val="A9BAC4"/>
                </a:solidFill>
                <a:latin typeface="Arial" pitchFamily="34" charset="0"/>
                <a:ea typeface="Arial" pitchFamily="34" charset="-122"/>
                <a:cs typeface="Arial" pitchFamily="34" charset="-120"/>
              </a:rPr>
              <a:t>against your peptide list</a:t>
            </a:r>
            <a:endParaRPr lang="en-US" sz="1725" dirty="0"/>
          </a:p>
        </p:txBody>
      </p:sp>
      <p:sp>
        <p:nvSpPr>
          <p:cNvPr id="24" name="Shape 22"/>
          <p:cNvSpPr/>
          <p:nvPr/>
        </p:nvSpPr>
        <p:spPr>
          <a:xfrm>
            <a:off x="1047750" y="6395442"/>
            <a:ext cx="16192500" cy="865808"/>
          </a:xfrm>
          <a:prstGeom prst="roundRect">
            <a:avLst>
              <a:gd name="adj" fmla="val 15402"/>
            </a:avLst>
          </a:prstGeom>
          <a:solidFill>
            <a:srgbClr val="E4EBEE"/>
          </a:solidFill>
          <a:ln w="9525">
            <a:solidFill>
              <a:srgbClr val="B8C4CB"/>
            </a:solidFill>
            <a:prstDash val="dash"/>
          </a:ln>
        </p:spPr>
      </p:sp>
      <p:sp>
        <p:nvSpPr>
          <p:cNvPr id="25" name="Text 23"/>
          <p:cNvSpPr/>
          <p:nvPr/>
        </p:nvSpPr>
        <p:spPr>
          <a:xfrm>
            <a:off x="1381125" y="6652617"/>
            <a:ext cx="16011525" cy="389558"/>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3A4C59"/>
                </a:solidFill>
                <a:latin typeface="Arial" pitchFamily="34" charset="0"/>
                <a:ea typeface="Arial" pitchFamily="34" charset="-122"/>
                <a:cs typeface="Arial" pitchFamily="34" charset="-120"/>
              </a:rPr>
              <a:t>Or skip the search: </a:t>
            </a:r>
            <a:pPr algn="l" indent="0" marL="0">
              <a:lnSpc>
                <a:spcPct val="140000"/>
              </a:lnSpc>
              <a:buNone/>
            </a:pPr>
            <a:r>
              <a:rPr lang="en-US" sz="1950" dirty="0">
                <a:solidFill>
                  <a:srgbClr val="3A4C59"/>
                </a:solidFill>
                <a:highlight>
                  <a:srgbClr val="E4EBEE"/>
                </a:highlight>
                <a:latin typeface="Arial" pitchFamily="34" charset="0"/>
                <a:ea typeface="Arial" pitchFamily="34" charset="-122"/>
                <a:cs typeface="Arial" pitchFamily="34" charset="-120"/>
              </a:rPr>
              <a:t>upload precomputed results directly — </a:t>
            </a:r>
            <a:pPr algn="l" indent="0" marL="0">
              <a:lnSpc>
                <a:spcPct val="140000"/>
              </a:lnSpc>
              <a:buNone/>
            </a:pPr>
            <a:r>
              <a:rPr lang="en-US" sz="1725" dirty="0">
                <a:solidFill>
                  <a:srgbClr val="3A4C59"/>
                </a:solidFill>
                <a:latin typeface="Courier New" pitchFamily="34" charset="0"/>
                <a:ea typeface="Courier New" pitchFamily="34" charset="-122"/>
                <a:cs typeface="Courier New" pitchFamily="34" charset="-120"/>
              </a:rPr>
              <a:t>.mzid </a:t>
            </a:r>
            <a:pPr algn="l" indent="0" marL="0">
              <a:lnSpc>
                <a:spcPct val="140000"/>
              </a:lnSpc>
              <a:buNone/>
            </a:pPr>
            <a:r>
              <a:rPr lang="en-US" sz="1950" dirty="0">
                <a:solidFill>
                  <a:srgbClr val="3A4C59"/>
                </a:solidFill>
                <a:highlight>
                  <a:srgbClr val="E4EBEE"/>
                </a:highlight>
                <a:latin typeface="Arial" pitchFamily="34" charset="0"/>
                <a:ea typeface="Arial" pitchFamily="34" charset="-122"/>
                <a:cs typeface="Arial" pitchFamily="34" charset="-120"/>
              </a:rPr>
              <a:t>· </a:t>
            </a:r>
            <a:pPr algn="l" indent="0" marL="0">
              <a:lnSpc>
                <a:spcPct val="140000"/>
              </a:lnSpc>
              <a:buNone/>
            </a:pPr>
            <a:r>
              <a:rPr lang="en-US" sz="1725" dirty="0">
                <a:solidFill>
                  <a:srgbClr val="3A4C59"/>
                </a:solidFill>
                <a:latin typeface="Courier New" pitchFamily="34" charset="0"/>
                <a:ea typeface="Courier New" pitchFamily="34" charset="-122"/>
                <a:cs typeface="Courier New" pitchFamily="34" charset="-120"/>
              </a:rPr>
              <a:t>.pepXML </a:t>
            </a:r>
            <a:pPr algn="l" indent="0" marL="0">
              <a:lnSpc>
                <a:spcPct val="140000"/>
              </a:lnSpc>
              <a:buNone/>
            </a:pPr>
            <a:r>
              <a:rPr lang="en-US" sz="1950" dirty="0">
                <a:solidFill>
                  <a:srgbClr val="3A4C59"/>
                </a:solidFill>
                <a:highlight>
                  <a:srgbClr val="E4EBEE"/>
                </a:highlight>
                <a:latin typeface="Arial" pitchFamily="34" charset="0"/>
                <a:ea typeface="Arial" pitchFamily="34" charset="-122"/>
                <a:cs typeface="Arial" pitchFamily="34" charset="-120"/>
              </a:rPr>
              <a:t>· </a:t>
            </a:r>
            <a:pPr algn="l" indent="0" marL="0">
              <a:lnSpc>
                <a:spcPct val="140000"/>
              </a:lnSpc>
              <a:buNone/>
            </a:pPr>
            <a:r>
              <a:rPr lang="en-US" sz="1725" dirty="0">
                <a:solidFill>
                  <a:srgbClr val="3A4C59"/>
                </a:solidFill>
                <a:latin typeface="Courier New" pitchFamily="34" charset="0"/>
                <a:ea typeface="Courier New" pitchFamily="34" charset="-122"/>
                <a:cs typeface="Courier New" pitchFamily="34" charset="-120"/>
              </a:rPr>
              <a:t>psm.tsv </a:t>
            </a:r>
            <a:pPr algn="l" indent="0" marL="0">
              <a:lnSpc>
                <a:spcPct val="140000"/>
              </a:lnSpc>
              <a:buNone/>
            </a:pPr>
            <a:r>
              <a:rPr lang="en-US" sz="1950" dirty="0">
                <a:solidFill>
                  <a:srgbClr val="3A4C59"/>
                </a:solidFill>
                <a:highlight>
                  <a:srgbClr val="E4EBEE"/>
                </a:highlight>
                <a:latin typeface="Arial" pitchFamily="34" charset="0"/>
                <a:ea typeface="Arial" pitchFamily="34" charset="-122"/>
                <a:cs typeface="Arial" pitchFamily="34" charset="-120"/>
              </a:rPr>
              <a:t>· Amanda </a:t>
            </a:r>
            <a:pPr algn="l" indent="0" marL="0">
              <a:lnSpc>
                <a:spcPct val="140000"/>
              </a:lnSpc>
              <a:buNone/>
            </a:pPr>
            <a:r>
              <a:rPr lang="en-US" sz="1725" dirty="0">
                <a:solidFill>
                  <a:srgbClr val="3A4C59"/>
                </a:solidFill>
                <a:latin typeface="Courier New" pitchFamily="34" charset="0"/>
                <a:ea typeface="Courier New" pitchFamily="34" charset="-122"/>
                <a:cs typeface="Courier New" pitchFamily="34" charset="-120"/>
              </a:rPr>
              <a:t>.csv</a:t>
            </a:r>
            <a:pPr algn="l" indent="0" marL="0">
              <a:lnSpc>
                <a:spcPct val="140000"/>
              </a:lnSpc>
              <a:buNone/>
            </a:pPr>
            <a:r>
              <a:rPr lang="en-US" sz="1950" dirty="0">
                <a:solidFill>
                  <a:srgbClr val="3A4C59"/>
                </a:solidFill>
                <a:highlight>
                  <a:srgbClr val="E4EBEE"/>
                </a:highlight>
                <a:latin typeface="Arial" pitchFamily="34" charset="0"/>
                <a:ea typeface="Arial" pitchFamily="34" charset="-122"/>
                <a:cs typeface="Arial" pitchFamily="34" charset="-120"/>
              </a:rPr>
              <a:t>. Format is auto-detected.</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D3648">
                  <a:alpha val="100000"/>
                </a:srgbClr>
              </a:gs>
              <a:gs pos="62000">
                <a:srgbClr val="0F1D29">
                  <a:alpha val="100000"/>
                </a:srgbClr>
              </a:gs>
            </a:gsLst>
            <a:path path="circle">
              <a:fillToRect l="78000" t="30000" r="22000" b="70000"/>
            </a:path>
          </a:gradFill>
          <a:ln/>
        </p:spPr>
      </p:sp>
      <p:sp>
        <p:nvSpPr>
          <p:cNvPr id="3" name="Text 1"/>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EC9A0"/>
                </a:solidFill>
                <a:latin typeface="Courier New" pitchFamily="34" charset="0"/>
                <a:ea typeface="Courier New" pitchFamily="34" charset="-122"/>
                <a:cs typeface="Courier New" pitchFamily="34" charset="-120"/>
              </a:rPr>
              <a:t>VALIDATION</a:t>
            </a:r>
            <a:endParaRPr lang="en-US" sz="1800" dirty="0"/>
          </a:p>
        </p:txBody>
      </p:sp>
      <p:sp>
        <p:nvSpPr>
          <p:cNvPr id="4" name="Text 2"/>
          <p:cNvSpPr/>
          <p:nvPr/>
        </p:nvSpPr>
        <p:spPr>
          <a:xfrm>
            <a:off x="1047750" y="1285875"/>
            <a:ext cx="17811750" cy="698748"/>
          </a:xfrm>
          <a:prstGeom prst="rect">
            <a:avLst/>
          </a:prstGeom>
          <a:noFill/>
          <a:ln/>
        </p:spPr>
        <p:txBody>
          <a:bodyPr wrap="square" lIns="25400" tIns="25400" rIns="25400" bIns="25400" rtlCol="0" anchor="t">
            <a:normAutofit/>
          </a:bodyPr>
          <a:lstStyle/>
          <a:p>
            <a:pPr algn="l" indent="0" marL="0">
              <a:lnSpc>
                <a:spcPct val="102000"/>
              </a:lnSpc>
              <a:buNone/>
            </a:pPr>
            <a:r>
              <a:rPr lang="en-US" sz="5100" b="1" spc="-102" kern="0" dirty="0">
                <a:solidFill>
                  <a:srgbClr val="EEF2F4"/>
                </a:solidFill>
                <a:latin typeface="Arial" pitchFamily="34" charset="0"/>
                <a:ea typeface="Arial" pitchFamily="34" charset="-122"/>
                <a:cs typeface="Arial" pitchFamily="34" charset="-120"/>
              </a:rPr>
              <a:t>Validated to sub-mDa accuracy</a:t>
            </a:r>
            <a:endParaRPr lang="en-US" sz="5100" dirty="0"/>
          </a:p>
        </p:txBody>
      </p:sp>
      <p:sp>
        <p:nvSpPr>
          <p:cNvPr id="5" name="Text 3"/>
          <p:cNvSpPr/>
          <p:nvPr/>
        </p:nvSpPr>
        <p:spPr>
          <a:xfrm>
            <a:off x="1047750" y="4432771"/>
            <a:ext cx="569976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dirty="0">
                <a:solidFill>
                  <a:srgbClr val="5EC9A0"/>
                </a:solidFill>
                <a:latin typeface="Courier New" pitchFamily="34" charset="0"/>
                <a:ea typeface="Courier New" pitchFamily="34" charset="-122"/>
                <a:cs typeface="Courier New" pitchFamily="34" charset="-120"/>
              </a:rPr>
              <a:t>≤0.05</a:t>
            </a:r>
            <a:endParaRPr lang="en-US" sz="7800" dirty="0"/>
          </a:p>
        </p:txBody>
      </p:sp>
      <p:sp>
        <p:nvSpPr>
          <p:cNvPr id="6" name="Text 4"/>
          <p:cNvSpPr/>
          <p:nvPr/>
        </p:nvSpPr>
        <p:spPr>
          <a:xfrm>
            <a:off x="1047750" y="5419502"/>
            <a:ext cx="5699760" cy="381000"/>
          </a:xfrm>
          <a:prstGeom prst="rect">
            <a:avLst/>
          </a:prstGeom>
          <a:noFill/>
          <a:ln/>
        </p:spPr>
        <p:txBody>
          <a:bodyPr wrap="square" lIns="25400" tIns="25400" rIns="25400" bIns="25400" rtlCol="0" anchor="t">
            <a:normAutofit/>
          </a:bodyPr>
          <a:lstStyle/>
          <a:p>
            <a:pPr algn="l" indent="0" marL="0">
              <a:buNone/>
            </a:pPr>
            <a:r>
              <a:rPr lang="en-US" sz="2100" dirty="0">
                <a:solidFill>
                  <a:srgbClr val="B9C6CF"/>
                </a:solidFill>
                <a:latin typeface="Arial" pitchFamily="34" charset="0"/>
                <a:ea typeface="Arial" pitchFamily="34" charset="-122"/>
                <a:cs typeface="Arial" pitchFamily="34" charset="-120"/>
              </a:rPr>
              <a:t>mDa mass error vs IgG1 tryptic references</a:t>
            </a:r>
            <a:endParaRPr lang="en-US" sz="2100" dirty="0"/>
          </a:p>
        </p:txBody>
      </p:sp>
      <p:sp>
        <p:nvSpPr>
          <p:cNvPr id="7" name="Text 5"/>
          <p:cNvSpPr/>
          <p:nvPr/>
        </p:nvSpPr>
        <p:spPr>
          <a:xfrm>
            <a:off x="6553200" y="4432771"/>
            <a:ext cx="569976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dirty="0">
                <a:solidFill>
                  <a:srgbClr val="5EC9A0"/>
                </a:solidFill>
                <a:latin typeface="Courier New" pitchFamily="34" charset="0"/>
                <a:ea typeface="Courier New" pitchFamily="34" charset="-122"/>
                <a:cs typeface="Courier New" pitchFamily="34" charset="-120"/>
              </a:rPr>
              <a:t>79</a:t>
            </a:r>
            <a:endParaRPr lang="en-US" sz="7800" dirty="0"/>
          </a:p>
        </p:txBody>
      </p:sp>
      <p:sp>
        <p:nvSpPr>
          <p:cNvPr id="8" name="Text 6"/>
          <p:cNvSpPr/>
          <p:nvPr/>
        </p:nvSpPr>
        <p:spPr>
          <a:xfrm>
            <a:off x="6553200" y="5419502"/>
            <a:ext cx="5699760" cy="381000"/>
          </a:xfrm>
          <a:prstGeom prst="rect">
            <a:avLst/>
          </a:prstGeom>
          <a:noFill/>
          <a:ln/>
        </p:spPr>
        <p:txBody>
          <a:bodyPr wrap="square" lIns="25400" tIns="25400" rIns="25400" bIns="25400" rtlCol="0" anchor="t">
            <a:normAutofit/>
          </a:bodyPr>
          <a:lstStyle/>
          <a:p>
            <a:pPr algn="l" indent="0" marL="0">
              <a:buNone/>
            </a:pPr>
            <a:r>
              <a:rPr lang="en-US" sz="2100" dirty="0">
                <a:solidFill>
                  <a:srgbClr val="B9C6CF"/>
                </a:solidFill>
                <a:latin typeface="Arial" pitchFamily="34" charset="0"/>
                <a:ea typeface="Arial" pitchFamily="34" charset="-122"/>
                <a:cs typeface="Arial" pitchFamily="34" charset="-120"/>
              </a:rPr>
              <a:t>unit tests · 100% pass rate</a:t>
            </a:r>
            <a:endParaRPr lang="en-US" sz="2100" dirty="0"/>
          </a:p>
        </p:txBody>
      </p:sp>
      <p:sp>
        <p:nvSpPr>
          <p:cNvPr id="9" name="Text 7"/>
          <p:cNvSpPr/>
          <p:nvPr/>
        </p:nvSpPr>
        <p:spPr>
          <a:xfrm>
            <a:off x="12058650" y="4432771"/>
            <a:ext cx="569976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dirty="0">
                <a:solidFill>
                  <a:srgbClr val="5EC9A0"/>
                </a:solidFill>
                <a:latin typeface="Courier New" pitchFamily="34" charset="0"/>
                <a:ea typeface="Courier New" pitchFamily="34" charset="-122"/>
                <a:cs typeface="Courier New" pitchFamily="34" charset="-120"/>
              </a:rPr>
              <a:t>10/10</a:t>
            </a:r>
            <a:endParaRPr lang="en-US" sz="7800" dirty="0"/>
          </a:p>
        </p:txBody>
      </p:sp>
      <p:sp>
        <p:nvSpPr>
          <p:cNvPr id="10" name="Text 8"/>
          <p:cNvSpPr/>
          <p:nvPr/>
        </p:nvSpPr>
        <p:spPr>
          <a:xfrm>
            <a:off x="12058650" y="5419502"/>
            <a:ext cx="5699760" cy="381000"/>
          </a:xfrm>
          <a:prstGeom prst="rect">
            <a:avLst/>
          </a:prstGeom>
          <a:noFill/>
          <a:ln/>
        </p:spPr>
        <p:txBody>
          <a:bodyPr wrap="square" lIns="25400" tIns="25400" rIns="25400" bIns="25400" rtlCol="0" anchor="t">
            <a:normAutofit/>
          </a:bodyPr>
          <a:lstStyle/>
          <a:p>
            <a:pPr algn="l" indent="0" marL="0">
              <a:buNone/>
            </a:pPr>
            <a:r>
              <a:rPr lang="en-US" sz="2100" dirty="0">
                <a:solidFill>
                  <a:srgbClr val="B9C6CF"/>
                </a:solidFill>
                <a:latin typeface="Arial" pitchFamily="34" charset="0"/>
                <a:ea typeface="Arial" pitchFamily="34" charset="-122"/>
                <a:cs typeface="Arial" pitchFamily="34" charset="-120"/>
              </a:rPr>
              <a:t>benchmark reference peptides pass</a:t>
            </a:r>
            <a:endParaRPr lang="en-US" sz="2100" dirty="0"/>
          </a:p>
        </p:txBody>
      </p:sp>
      <p:sp>
        <p:nvSpPr>
          <p:cNvPr id="11" name="Text 9"/>
          <p:cNvSpPr/>
          <p:nvPr/>
        </p:nvSpPr>
        <p:spPr>
          <a:xfrm>
            <a:off x="1047750" y="6267227"/>
            <a:ext cx="226723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EA0AC"/>
                </a:solidFill>
                <a:latin typeface="Arial" pitchFamily="34" charset="0"/>
                <a:ea typeface="Arial" pitchFamily="34" charset="-122"/>
                <a:cs typeface="Arial" pitchFamily="34" charset="-120"/>
              </a:rPr>
              <a:t>Reference peptides:</a:t>
            </a:r>
            <a:endParaRPr lang="en-US" sz="1800" dirty="0"/>
          </a:p>
        </p:txBody>
      </p:sp>
      <p:sp>
        <p:nvSpPr>
          <p:cNvPr id="12" name="Shape 10"/>
          <p:cNvSpPr/>
          <p:nvPr/>
        </p:nvSpPr>
        <p:spPr>
          <a:xfrm>
            <a:off x="3242221" y="6181502"/>
            <a:ext cx="1969815" cy="466725"/>
          </a:xfrm>
          <a:prstGeom prst="roundRect">
            <a:avLst>
              <a:gd name="adj" fmla="val 16327"/>
            </a:avLst>
          </a:prstGeom>
          <a:solidFill>
            <a:srgbClr val="FFFFFF">
              <a:alpha val="7000"/>
            </a:srgbClr>
          </a:solidFill>
          <a:ln w="9525">
            <a:solidFill>
              <a:srgbClr val="FFFFFF">
                <a:alpha val="14000"/>
              </a:srgbClr>
            </a:solidFill>
            <a:prstDash val="solid"/>
          </a:ln>
        </p:spPr>
      </p:sp>
      <p:sp>
        <p:nvSpPr>
          <p:cNvPr id="13" name="Text 11"/>
          <p:cNvSpPr/>
          <p:nvPr/>
        </p:nvSpPr>
        <p:spPr>
          <a:xfrm>
            <a:off x="3404146" y="6267227"/>
            <a:ext cx="17221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EF2F4"/>
                </a:solidFill>
                <a:latin typeface="Courier New" pitchFamily="34" charset="0"/>
                <a:ea typeface="Courier New" pitchFamily="34" charset="-122"/>
                <a:cs typeface="Courier New" pitchFamily="34" charset="-120"/>
              </a:rPr>
              <a:t>GPSVFPLAPSSR</a:t>
            </a:r>
            <a:endParaRPr lang="en-US" sz="1800" dirty="0"/>
          </a:p>
        </p:txBody>
      </p:sp>
      <p:sp>
        <p:nvSpPr>
          <p:cNvPr id="14" name="Shape 12"/>
          <p:cNvSpPr/>
          <p:nvPr/>
        </p:nvSpPr>
        <p:spPr>
          <a:xfrm>
            <a:off x="5345385" y="6181502"/>
            <a:ext cx="2106960" cy="466725"/>
          </a:xfrm>
          <a:prstGeom prst="roundRect">
            <a:avLst>
              <a:gd name="adj" fmla="val 16327"/>
            </a:avLst>
          </a:prstGeom>
          <a:solidFill>
            <a:srgbClr val="FFFFFF">
              <a:alpha val="7000"/>
            </a:srgbClr>
          </a:solidFill>
          <a:ln w="9525">
            <a:solidFill>
              <a:srgbClr val="FFFFFF">
                <a:alpha val="14000"/>
              </a:srgbClr>
            </a:solidFill>
            <a:prstDash val="solid"/>
          </a:ln>
        </p:spPr>
      </p:sp>
      <p:sp>
        <p:nvSpPr>
          <p:cNvPr id="15" name="Text 13"/>
          <p:cNvSpPr/>
          <p:nvPr/>
        </p:nvSpPr>
        <p:spPr>
          <a:xfrm>
            <a:off x="5507310" y="6267227"/>
            <a:ext cx="18593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EF2F4"/>
                </a:solidFill>
                <a:latin typeface="Courier New" pitchFamily="34" charset="0"/>
                <a:ea typeface="Courier New" pitchFamily="34" charset="-122"/>
                <a:cs typeface="Courier New" pitchFamily="34" charset="-120"/>
              </a:rPr>
              <a:t>ELASGLSFPVGFK</a:t>
            </a:r>
            <a:endParaRPr lang="en-US" sz="1800" dirty="0"/>
          </a:p>
        </p:txBody>
      </p:sp>
      <p:sp>
        <p:nvSpPr>
          <p:cNvPr id="16" name="Shape 14"/>
          <p:cNvSpPr/>
          <p:nvPr/>
        </p:nvSpPr>
        <p:spPr>
          <a:xfrm>
            <a:off x="7585695" y="6181502"/>
            <a:ext cx="1558305" cy="466725"/>
          </a:xfrm>
          <a:prstGeom prst="roundRect">
            <a:avLst>
              <a:gd name="adj" fmla="val 16327"/>
            </a:avLst>
          </a:prstGeom>
          <a:solidFill>
            <a:srgbClr val="FFFFFF">
              <a:alpha val="7000"/>
            </a:srgbClr>
          </a:solidFill>
          <a:ln w="9525">
            <a:solidFill>
              <a:srgbClr val="FFFFFF">
                <a:alpha val="14000"/>
              </a:srgbClr>
            </a:solidFill>
            <a:prstDash val="solid"/>
          </a:ln>
        </p:spPr>
      </p:sp>
      <p:sp>
        <p:nvSpPr>
          <p:cNvPr id="17" name="Text 15"/>
          <p:cNvSpPr/>
          <p:nvPr/>
        </p:nvSpPr>
        <p:spPr>
          <a:xfrm>
            <a:off x="7747620" y="6267227"/>
            <a:ext cx="13106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EF2F4"/>
                </a:solidFill>
                <a:latin typeface="Courier New" pitchFamily="34" charset="0"/>
                <a:ea typeface="Courier New" pitchFamily="34" charset="-122"/>
                <a:cs typeface="Courier New" pitchFamily="34" charset="-120"/>
              </a:rPr>
              <a:t>CASIQKFGR</a:t>
            </a:r>
            <a:endParaRPr lang="en-US" sz="1800" dirty="0"/>
          </a:p>
        </p:txBody>
      </p:sp>
      <p:sp>
        <p:nvSpPr>
          <p:cNvPr id="18" name="Shape 16"/>
          <p:cNvSpPr/>
          <p:nvPr/>
        </p:nvSpPr>
        <p:spPr>
          <a:xfrm>
            <a:off x="9277350" y="6181502"/>
            <a:ext cx="1284015" cy="466725"/>
          </a:xfrm>
          <a:prstGeom prst="roundRect">
            <a:avLst>
              <a:gd name="adj" fmla="val 16327"/>
            </a:avLst>
          </a:prstGeom>
          <a:solidFill>
            <a:srgbClr val="FFFFFF">
              <a:alpha val="7000"/>
            </a:srgbClr>
          </a:solidFill>
          <a:ln w="9525">
            <a:solidFill>
              <a:srgbClr val="FFFFFF">
                <a:alpha val="14000"/>
              </a:srgbClr>
            </a:solidFill>
            <a:prstDash val="solid"/>
          </a:ln>
        </p:spPr>
      </p:sp>
      <p:sp>
        <p:nvSpPr>
          <p:cNvPr id="19" name="Text 17"/>
          <p:cNvSpPr/>
          <p:nvPr/>
        </p:nvSpPr>
        <p:spPr>
          <a:xfrm>
            <a:off x="9439275" y="6267227"/>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EF2F4"/>
                </a:solidFill>
                <a:latin typeface="Courier New" pitchFamily="34" charset="0"/>
                <a:ea typeface="Courier New" pitchFamily="34" charset="-122"/>
                <a:cs typeface="Courier New" pitchFamily="34" charset="-120"/>
              </a:rPr>
              <a:t>DTLMISR</a:t>
            </a:r>
            <a:endParaRPr lang="en-US" sz="1800" dirty="0"/>
          </a:p>
        </p:txBody>
      </p:sp>
      <p:sp>
        <p:nvSpPr>
          <p:cNvPr id="20" name="Text 18"/>
          <p:cNvSpPr/>
          <p:nvPr/>
        </p:nvSpPr>
        <p:spPr>
          <a:xfrm>
            <a:off x="1123950" y="6762527"/>
            <a:ext cx="7328356"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EA0AC"/>
                </a:solidFill>
                <a:latin typeface="Arial" pitchFamily="34" charset="0"/>
                <a:ea typeface="Arial" pitchFamily="34" charset="-122"/>
                <a:cs typeface="Arial" pitchFamily="34" charset="-120"/>
              </a:rPr>
              <a:t>Methods: averagine (Senko 1995) · target–decoy FDR (Käll 2008)</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4"/>
        </a:solidFill>
      </p:bgPr>
    </p:bg>
    <p:spTree>
      <p:nvGrpSpPr>
        <p:cNvPr id="1" name=""/>
        <p:cNvGrpSpPr/>
        <p:nvPr/>
      </p:nvGrpSpPr>
      <p:grpSpPr>
        <a:xfrm>
          <a:off x="0" y="0"/>
          <a:ext cx="0" cy="0"/>
          <a:chOff x="0" y="0"/>
          <a:chExt cx="0" cy="0"/>
        </a:xfrm>
      </p:grpSpPr>
      <p:sp>
        <p:nvSpPr>
          <p:cNvPr id="2" name="Text 0"/>
          <p:cNvSpPr/>
          <p:nvPr/>
        </p:nvSpPr>
        <p:spPr>
          <a:xfrm>
            <a:off x="1047750" y="800100"/>
            <a:ext cx="1781175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1F7A6D"/>
                </a:solidFill>
                <a:latin typeface="Courier New" pitchFamily="34" charset="0"/>
                <a:ea typeface="Courier New" pitchFamily="34" charset="-122"/>
                <a:cs typeface="Courier New" pitchFamily="34" charset="-120"/>
              </a:rPr>
              <a:t>STEP 07 · ASSIST</a:t>
            </a:r>
            <a:endParaRPr lang="en-US" sz="1800" dirty="0"/>
          </a:p>
        </p:txBody>
      </p:sp>
      <p:sp>
        <p:nvSpPr>
          <p:cNvPr id="3" name="Shape 1"/>
          <p:cNvSpPr/>
          <p:nvPr/>
        </p:nvSpPr>
        <p:spPr>
          <a:xfrm>
            <a:off x="1047750" y="1247775"/>
            <a:ext cx="1257300" cy="57150"/>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4" name="Text 2"/>
          <p:cNvSpPr/>
          <p:nvPr/>
        </p:nvSpPr>
        <p:spPr>
          <a:xfrm>
            <a:off x="1047750" y="1495425"/>
            <a:ext cx="17811750" cy="65982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6293A"/>
                </a:solidFill>
                <a:latin typeface="Arial" pitchFamily="34" charset="0"/>
                <a:ea typeface="Arial" pitchFamily="34" charset="-122"/>
                <a:cs typeface="Arial" pitchFamily="34" charset="-120"/>
              </a:rPr>
              <a:t>Built-in AI assistant</a:t>
            </a:r>
            <a:endParaRPr lang="en-US" sz="4800" dirty="0"/>
          </a:p>
        </p:txBody>
      </p:sp>
      <p:sp>
        <p:nvSpPr>
          <p:cNvPr id="5" name="Text 3"/>
          <p:cNvSpPr/>
          <p:nvPr/>
        </p:nvSpPr>
        <p:spPr>
          <a:xfrm>
            <a:off x="1047750" y="4451300"/>
            <a:ext cx="7707800" cy="1322412"/>
          </a:xfrm>
          <a:prstGeom prst="rect">
            <a:avLst/>
          </a:prstGeom>
          <a:noFill/>
          <a:ln/>
        </p:spPr>
        <p:txBody>
          <a:bodyPr wrap="square" lIns="25400" tIns="25400" rIns="25400" bIns="25400" rtlCol="0" anchor="t">
            <a:normAutofit/>
          </a:bodyPr>
          <a:lstStyle/>
          <a:p>
            <a:pPr algn="l" indent="0" marL="0">
              <a:lnSpc>
                <a:spcPct val="145000"/>
              </a:lnSpc>
              <a:buNone/>
            </a:pPr>
            <a:r>
              <a:rPr lang="en-US" sz="2325" dirty="0">
                <a:solidFill>
                  <a:srgbClr val="25384A"/>
                </a:solidFill>
                <a:latin typeface="Arial" pitchFamily="34" charset="0"/>
                <a:ea typeface="Arial" pitchFamily="34" charset="-122"/>
                <a:cs typeface="Arial" pitchFamily="34" charset="-120"/>
              </a:rPr>
              <a:t>A Claude-powered chat, pre-loaded with ADC / proteomics context — to interpret results, explain MS concepts, and troubleshoot workflows.</a:t>
            </a:r>
            <a:endParaRPr lang="en-US" sz="2325" dirty="0"/>
          </a:p>
        </p:txBody>
      </p:sp>
      <p:sp>
        <p:nvSpPr>
          <p:cNvPr id="6" name="Text 4"/>
          <p:cNvSpPr/>
          <p:nvPr/>
        </p:nvSpPr>
        <p:spPr>
          <a:xfrm>
            <a:off x="1047750" y="5964213"/>
            <a:ext cx="206350" cy="371475"/>
          </a:xfrm>
          <a:prstGeom prst="rect">
            <a:avLst/>
          </a:prstGeom>
          <a:noFill/>
          <a:ln/>
        </p:spPr>
        <p:txBody>
          <a:bodyPr wrap="square" lIns="25400" tIns="25400" rIns="25400" bIns="25400" rtlCol="0" anchor="t">
            <a:normAutofit/>
          </a:bodyPr>
          <a:lstStyle/>
          <a:p>
            <a:pPr algn="l" indent="0" marL="0">
              <a:buNone/>
            </a:pPr>
            <a:r>
              <a:rPr lang="en-US" sz="2025" dirty="0">
                <a:solidFill>
                  <a:srgbClr val="21918C"/>
                </a:solidFill>
                <a:latin typeface="Arial" pitchFamily="34" charset="0"/>
                <a:ea typeface="Arial" pitchFamily="34" charset="-122"/>
                <a:cs typeface="Arial" pitchFamily="34" charset="-120"/>
              </a:rPr>
              <a:t>▪</a:t>
            </a:r>
            <a:endParaRPr lang="en-US" sz="2025" dirty="0"/>
          </a:p>
        </p:txBody>
      </p:sp>
      <p:sp>
        <p:nvSpPr>
          <p:cNvPr id="7" name="Text 5"/>
          <p:cNvSpPr/>
          <p:nvPr/>
        </p:nvSpPr>
        <p:spPr>
          <a:xfrm>
            <a:off x="1311250" y="5964213"/>
            <a:ext cx="7436395" cy="737146"/>
          </a:xfrm>
          <a:prstGeom prst="rect">
            <a:avLst/>
          </a:prstGeom>
          <a:noFill/>
          <a:ln/>
        </p:spPr>
        <p:txBody>
          <a:bodyPr wrap="square" lIns="25400" tIns="25400" rIns="25400" bIns="25400" rtlCol="0" anchor="t">
            <a:normAutofit/>
          </a:bodyPr>
          <a:lstStyle/>
          <a:p>
            <a:pPr algn="l" indent="0" marL="0">
              <a:lnSpc>
                <a:spcPct val="135000"/>
              </a:lnSpc>
              <a:buNone/>
            </a:pPr>
            <a:r>
              <a:rPr lang="en-US" sz="2025" b="1" dirty="0">
                <a:solidFill>
                  <a:srgbClr val="25384A"/>
                </a:solidFill>
                <a:latin typeface="Arial" pitchFamily="34" charset="0"/>
                <a:ea typeface="Arial" pitchFamily="34" charset="-122"/>
                <a:cs typeface="Arial" pitchFamily="34" charset="-120"/>
              </a:rPr>
              <a:t>Live digest context </a:t>
            </a:r>
            <a:pPr algn="l" indent="0" marL="0">
              <a:lnSpc>
                <a:spcPct val="135000"/>
              </a:lnSpc>
              <a:buNone/>
            </a:pPr>
            <a:r>
              <a:rPr lang="en-US" sz="2025" dirty="0">
                <a:solidFill>
                  <a:srgbClr val="25384A"/>
                </a:solidFill>
                <a:latin typeface="Arial" pitchFamily="34" charset="0"/>
                <a:ea typeface="Arial" pitchFamily="34" charset="-122"/>
                <a:cs typeface="Arial" pitchFamily="34" charset="-120"/>
              </a:rPr>
              <a:t>— attach ADC name, chains, enzyme, and peptide count to each message.</a:t>
            </a:r>
            <a:endParaRPr lang="en-US" sz="2025" dirty="0"/>
          </a:p>
        </p:txBody>
      </p:sp>
      <p:sp>
        <p:nvSpPr>
          <p:cNvPr id="8" name="Text 6"/>
          <p:cNvSpPr/>
          <p:nvPr/>
        </p:nvSpPr>
        <p:spPr>
          <a:xfrm>
            <a:off x="1047750" y="6891858"/>
            <a:ext cx="206350" cy="371475"/>
          </a:xfrm>
          <a:prstGeom prst="rect">
            <a:avLst/>
          </a:prstGeom>
          <a:noFill/>
          <a:ln/>
        </p:spPr>
        <p:txBody>
          <a:bodyPr wrap="square" lIns="25400" tIns="25400" rIns="25400" bIns="25400" rtlCol="0" anchor="t">
            <a:normAutofit/>
          </a:bodyPr>
          <a:lstStyle/>
          <a:p>
            <a:pPr algn="l" indent="0" marL="0">
              <a:buNone/>
            </a:pPr>
            <a:r>
              <a:rPr lang="en-US" sz="2025" dirty="0">
                <a:solidFill>
                  <a:srgbClr val="21918C"/>
                </a:solidFill>
                <a:latin typeface="Arial" pitchFamily="34" charset="0"/>
                <a:ea typeface="Arial" pitchFamily="34" charset="-122"/>
                <a:cs typeface="Arial" pitchFamily="34" charset="-120"/>
              </a:rPr>
              <a:t>▪</a:t>
            </a:r>
            <a:endParaRPr lang="en-US" sz="2025" dirty="0"/>
          </a:p>
        </p:txBody>
      </p:sp>
      <p:sp>
        <p:nvSpPr>
          <p:cNvPr id="9" name="Text 7"/>
          <p:cNvSpPr/>
          <p:nvPr/>
        </p:nvSpPr>
        <p:spPr>
          <a:xfrm>
            <a:off x="1311250" y="6891858"/>
            <a:ext cx="7436395" cy="737146"/>
          </a:xfrm>
          <a:prstGeom prst="rect">
            <a:avLst/>
          </a:prstGeom>
          <a:noFill/>
          <a:ln/>
        </p:spPr>
        <p:txBody>
          <a:bodyPr wrap="square" lIns="25400" tIns="25400" rIns="25400" bIns="25400" rtlCol="0" anchor="t">
            <a:normAutofit/>
          </a:bodyPr>
          <a:lstStyle/>
          <a:p>
            <a:pPr algn="l" indent="0" marL="0">
              <a:lnSpc>
                <a:spcPct val="135000"/>
              </a:lnSpc>
              <a:buNone/>
            </a:pPr>
            <a:r>
              <a:rPr lang="en-US" sz="2025" b="1" dirty="0">
                <a:solidFill>
                  <a:srgbClr val="25384A"/>
                </a:solidFill>
                <a:latin typeface="Arial" pitchFamily="34" charset="0"/>
                <a:ea typeface="Arial" pitchFamily="34" charset="-122"/>
                <a:cs typeface="Arial" pitchFamily="34" charset="-120"/>
              </a:rPr>
              <a:t>Your key, your control </a:t>
            </a:r>
            <a:pPr algn="l" indent="0" marL="0">
              <a:lnSpc>
                <a:spcPct val="135000"/>
              </a:lnSpc>
              <a:buNone/>
            </a:pPr>
            <a:r>
              <a:rPr lang="en-US" sz="2025" dirty="0">
                <a:solidFill>
                  <a:srgbClr val="25384A"/>
                </a:solidFill>
                <a:latin typeface="Arial" pitchFamily="34" charset="0"/>
                <a:ea typeface="Arial" pitchFamily="34" charset="-122"/>
                <a:cs typeface="Arial" pitchFamily="34" charset="-120"/>
              </a:rPr>
              <a:t>— dynamic model selection; API key stored locally.</a:t>
            </a:r>
            <a:endParaRPr lang="en-US" sz="2025" dirty="0"/>
          </a:p>
        </p:txBody>
      </p:sp>
      <p:sp>
        <p:nvSpPr>
          <p:cNvPr id="10" name="Shape 8"/>
          <p:cNvSpPr/>
          <p:nvPr/>
        </p:nvSpPr>
        <p:spPr>
          <a:xfrm>
            <a:off x="8969201" y="4025578"/>
            <a:ext cx="8270974" cy="3990975"/>
          </a:xfrm>
          <a:prstGeom prst="roundRect">
            <a:avLst>
              <a:gd name="adj" fmla="val 4296"/>
            </a:avLst>
          </a:prstGeom>
          <a:solidFill>
            <a:srgbClr val="FFFFFF"/>
          </a:solidFill>
          <a:ln w="9525">
            <a:solidFill>
              <a:srgbClr val="DCE3E7"/>
            </a:solidFill>
            <a:prstDash val="solid"/>
          </a:ln>
        </p:spPr>
      </p:sp>
      <p:sp>
        <p:nvSpPr>
          <p:cNvPr id="11" name="Shape 9"/>
          <p:cNvSpPr/>
          <p:nvPr/>
        </p:nvSpPr>
        <p:spPr>
          <a:xfrm>
            <a:off x="9264476" y="4320853"/>
            <a:ext cx="2438846" cy="342900"/>
          </a:xfrm>
          <a:prstGeom prst="roundRect">
            <a:avLst>
              <a:gd name="adj" fmla="val 50000"/>
            </a:avLst>
          </a:prstGeom>
          <a:solidFill>
            <a:srgbClr val="D5F5E3"/>
          </a:solidFill>
          <a:ln/>
        </p:spPr>
      </p:sp>
      <p:sp>
        <p:nvSpPr>
          <p:cNvPr id="12" name="Text 10"/>
          <p:cNvSpPr/>
          <p:nvPr/>
        </p:nvSpPr>
        <p:spPr>
          <a:xfrm>
            <a:off x="9397826" y="4368478"/>
            <a:ext cx="2248346" cy="285750"/>
          </a:xfrm>
          <a:prstGeom prst="rect">
            <a:avLst/>
          </a:prstGeom>
          <a:noFill/>
          <a:ln/>
        </p:spPr>
        <p:txBody>
          <a:bodyPr wrap="square" lIns="25400" tIns="25400" rIns="25400" bIns="25400" rtlCol="0" anchor="t">
            <a:normAutofit/>
          </a:bodyPr>
          <a:lstStyle/>
          <a:p>
            <a:pPr algn="l" indent="0" marL="0">
              <a:buNone/>
            </a:pPr>
            <a:r>
              <a:rPr lang="en-US" sz="1500" dirty="0">
                <a:solidFill>
                  <a:srgbClr val="1E8449"/>
                </a:solidFill>
                <a:latin typeface="Courier New" pitchFamily="34" charset="0"/>
                <a:ea typeface="Courier New" pitchFamily="34" charset="-122"/>
                <a:cs typeface="Courier New" pitchFamily="34" charset="-120"/>
              </a:rPr>
              <a:t>● digest context on</a:t>
            </a:r>
            <a:endParaRPr lang="en-US" sz="1500" dirty="0"/>
          </a:p>
        </p:txBody>
      </p:sp>
      <p:sp>
        <p:nvSpPr>
          <p:cNvPr id="13" name="Shape 11"/>
          <p:cNvSpPr/>
          <p:nvPr/>
        </p:nvSpPr>
        <p:spPr>
          <a:xfrm>
            <a:off x="10647015" y="4835203"/>
            <a:ext cx="6297885" cy="1009650"/>
          </a:xfrm>
          <a:prstGeom prst="roundRect">
            <a:avLst>
              <a:gd name="adj" fmla="val 13208"/>
            </a:avLst>
          </a:prstGeom>
          <a:solidFill>
            <a:srgbClr val="16293A"/>
          </a:solidFill>
          <a:ln/>
        </p:spPr>
      </p:sp>
      <p:sp>
        <p:nvSpPr>
          <p:cNvPr id="14" name="Text 12"/>
          <p:cNvSpPr/>
          <p:nvPr/>
        </p:nvSpPr>
        <p:spPr>
          <a:xfrm>
            <a:off x="10856565" y="5006653"/>
            <a:ext cx="6067722"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EEF2F4"/>
                </a:solidFill>
                <a:latin typeface="Arial" pitchFamily="34" charset="0"/>
                <a:ea typeface="Arial" pitchFamily="34" charset="-122"/>
                <a:cs typeface="Arial" pitchFamily="34" charset="-120"/>
              </a:rPr>
              <a:t>Why a +18 Da shift on my conjugated cysteine peptide?</a:t>
            </a:r>
            <a:endParaRPr lang="en-US" sz="1875" dirty="0"/>
          </a:p>
        </p:txBody>
      </p:sp>
      <p:sp>
        <p:nvSpPr>
          <p:cNvPr id="15" name="Shape 13"/>
          <p:cNvSpPr/>
          <p:nvPr/>
        </p:nvSpPr>
        <p:spPr>
          <a:xfrm>
            <a:off x="9264476" y="5997253"/>
            <a:ext cx="6758732" cy="1724025"/>
          </a:xfrm>
          <a:prstGeom prst="roundRect">
            <a:avLst>
              <a:gd name="adj" fmla="val 7735"/>
            </a:avLst>
          </a:prstGeom>
          <a:solidFill>
            <a:srgbClr val="F2F6F7"/>
          </a:solidFill>
          <a:ln w="9525">
            <a:solidFill>
              <a:srgbClr val="E2E8EB"/>
            </a:solidFill>
            <a:prstDash val="solid"/>
          </a:ln>
        </p:spPr>
      </p:sp>
      <p:sp>
        <p:nvSpPr>
          <p:cNvPr id="16" name="Text 14"/>
          <p:cNvSpPr/>
          <p:nvPr/>
        </p:nvSpPr>
        <p:spPr>
          <a:xfrm>
            <a:off x="9483551" y="6178228"/>
            <a:ext cx="6523344" cy="1400175"/>
          </a:xfrm>
          <a:prstGeom prst="rect">
            <a:avLst/>
          </a:prstGeom>
          <a:noFill/>
          <a:ln/>
        </p:spPr>
        <p:txBody>
          <a:bodyPr wrap="square" lIns="25400" tIns="25400" rIns="25400" bIns="25400" rtlCol="0" anchor="t">
            <a:normAutofit/>
          </a:bodyPr>
          <a:lstStyle/>
          <a:p>
            <a:pPr algn="l" indent="0" marL="0">
              <a:lnSpc>
                <a:spcPct val="142000"/>
              </a:lnSpc>
              <a:buNone/>
            </a:pPr>
            <a:r>
              <a:rPr lang="en-US" sz="1875" dirty="0">
                <a:solidFill>
                  <a:srgbClr val="25384A"/>
                </a:solidFill>
                <a:highlight>
                  <a:srgbClr val="F2F6F7"/>
                </a:highlight>
                <a:latin typeface="Arial" pitchFamily="34" charset="0"/>
                <a:ea typeface="Arial" pitchFamily="34" charset="-122"/>
                <a:cs typeface="Arial" pitchFamily="34" charset="-120"/>
              </a:rPr>
              <a:t>That matches </a:t>
            </a:r>
            <a:pPr algn="l" indent="0" marL="0">
              <a:lnSpc>
                <a:spcPct val="142000"/>
              </a:lnSpc>
              <a:buNone/>
            </a:pPr>
            <a:r>
              <a:rPr lang="en-US" sz="1875" b="1" dirty="0">
                <a:solidFill>
                  <a:srgbClr val="25384A"/>
                </a:solidFill>
                <a:latin typeface="Arial" pitchFamily="34" charset="0"/>
                <a:ea typeface="Arial" pitchFamily="34" charset="-122"/>
                <a:cs typeface="Arial" pitchFamily="34" charset="-120"/>
              </a:rPr>
              <a:t>maleimide ring hydrolysis </a:t>
            </a:r>
            <a:pPr algn="l" indent="0" marL="0">
              <a:lnSpc>
                <a:spcPct val="142000"/>
              </a:lnSpc>
              <a:buNone/>
            </a:pPr>
            <a:r>
              <a:rPr lang="en-US" sz="1875" dirty="0">
                <a:solidFill>
                  <a:srgbClr val="25384A"/>
                </a:solidFill>
                <a:highlight>
                  <a:srgbClr val="F2F6F7"/>
                </a:highlight>
                <a:latin typeface="Arial" pitchFamily="34" charset="0"/>
                <a:ea typeface="Arial" pitchFamily="34" charset="-122"/>
                <a:cs typeface="Arial" pitchFamily="34" charset="-120"/>
              </a:rPr>
              <a:t>(</a:t>
            </a:r>
            <a:pPr algn="l" indent="0" marL="0">
              <a:lnSpc>
                <a:spcPct val="142000"/>
              </a:lnSpc>
              <a:buNone/>
            </a:pPr>
            <a:r>
              <a:rPr lang="en-US" sz="1875" dirty="0">
                <a:solidFill>
                  <a:srgbClr val="1F7A6D"/>
                </a:solidFill>
                <a:latin typeface="Courier New" pitchFamily="34" charset="0"/>
                <a:ea typeface="Courier New" pitchFamily="34" charset="-122"/>
                <a:cs typeface="Courier New" pitchFamily="34" charset="-120"/>
              </a:rPr>
              <a:t>+18.011 Da </a:t>
            </a:r>
            <a:pPr algn="l" indent="0" marL="0">
              <a:lnSpc>
                <a:spcPct val="142000"/>
              </a:lnSpc>
              <a:buNone/>
            </a:pPr>
            <a:r>
              <a:rPr lang="en-US" sz="1875" dirty="0">
                <a:solidFill>
                  <a:srgbClr val="25384A"/>
                </a:solidFill>
                <a:highlight>
                  <a:srgbClr val="F2F6F7"/>
                </a:highlight>
                <a:latin typeface="Arial" pitchFamily="34" charset="0"/>
                <a:ea typeface="Arial" pitchFamily="34" charset="-122"/>
                <a:cs typeface="Arial" pitchFamily="34" charset="-120"/>
              </a:rPr>
              <a:t>on C) — a common linker biotransformation. Enable it as a variable mod in Tab 2 and re-check the DAR-conjugated peptides.</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D3648">
                  <a:alpha val="100000"/>
                </a:srgbClr>
              </a:gs>
              <a:gs pos="62000">
                <a:srgbClr val="0F1D29">
                  <a:alpha val="100000"/>
                </a:srgbClr>
              </a:gs>
            </a:gsLst>
            <a:path path="circle">
              <a:fillToRect l="24000" t="24000" r="76000" b="76000"/>
            </a:path>
          </a:gradFill>
          <a:ln/>
        </p:spPr>
      </p:sp>
      <p:sp>
        <p:nvSpPr>
          <p:cNvPr id="3" name="Text 1"/>
          <p:cNvSpPr/>
          <p:nvPr/>
        </p:nvSpPr>
        <p:spPr>
          <a:xfrm>
            <a:off x="1047750" y="876300"/>
            <a:ext cx="17811750" cy="333375"/>
          </a:xfrm>
          <a:prstGeom prst="rect">
            <a:avLst/>
          </a:prstGeom>
          <a:noFill/>
          <a:ln/>
        </p:spPr>
        <p:txBody>
          <a:bodyPr wrap="square" lIns="25400" tIns="25400" rIns="25400" bIns="25400" rtlCol="0" anchor="t">
            <a:normAutofit/>
          </a:bodyPr>
          <a:lstStyle/>
          <a:p>
            <a:pPr algn="l" indent="0" marL="0">
              <a:buNone/>
            </a:pPr>
            <a:r>
              <a:rPr lang="en-US" sz="1800" spc="432" kern="0" dirty="0">
                <a:solidFill>
                  <a:srgbClr val="5EC9A0"/>
                </a:solidFill>
                <a:latin typeface="Courier New" pitchFamily="34" charset="0"/>
                <a:ea typeface="Courier New" pitchFamily="34" charset="-122"/>
                <a:cs typeface="Courier New" pitchFamily="34" charset="-120"/>
              </a:rPr>
              <a:t>FREE · OPEN · CITABLE</a:t>
            </a:r>
            <a:endParaRPr lang="en-US" sz="1800" dirty="0"/>
          </a:p>
        </p:txBody>
      </p:sp>
      <p:sp>
        <p:nvSpPr>
          <p:cNvPr id="4" name="Shape 2"/>
          <p:cNvSpPr/>
          <p:nvPr/>
        </p:nvSpPr>
        <p:spPr>
          <a:xfrm>
            <a:off x="1047750" y="3511897"/>
            <a:ext cx="1409700" cy="66675"/>
          </a:xfrm>
          <a:prstGeom prst="roundRect">
            <a:avLst>
              <a:gd name="adj" fmla="val 50000"/>
            </a:avLst>
          </a:prstGeom>
          <a:gradFill rotWithShape="1">
            <a:gsLst>
              <a:gs pos="0">
                <a:srgbClr val="440154">
                  <a:alpha val="100000"/>
                </a:srgbClr>
              </a:gs>
              <a:gs pos="25000">
                <a:srgbClr val="3B528B">
                  <a:alpha val="100000"/>
                </a:srgbClr>
              </a:gs>
              <a:gs pos="50000">
                <a:srgbClr val="21918C">
                  <a:alpha val="100000"/>
                </a:srgbClr>
              </a:gs>
              <a:gs pos="75000">
                <a:srgbClr val="5EC962">
                  <a:alpha val="100000"/>
                </a:srgbClr>
              </a:gs>
              <a:gs pos="100000">
                <a:srgbClr val="FDE725">
                  <a:alpha val="100000"/>
                </a:srgbClr>
              </a:gs>
            </a:gsLst>
            <a:lin ang="0" scaled="0"/>
          </a:gradFill>
          <a:ln/>
        </p:spPr>
      </p:sp>
      <p:sp>
        <p:nvSpPr>
          <p:cNvPr id="5" name="Text 3"/>
          <p:cNvSpPr/>
          <p:nvPr/>
        </p:nvSpPr>
        <p:spPr>
          <a:xfrm>
            <a:off x="1047750" y="3902422"/>
            <a:ext cx="17811750"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b="1" spc="-207" kern="0" dirty="0">
                <a:solidFill>
                  <a:srgbClr val="EEF2F4"/>
                </a:solidFill>
                <a:latin typeface="Arial" pitchFamily="34" charset="0"/>
                <a:ea typeface="Arial" pitchFamily="34" charset="-122"/>
                <a:cs typeface="Arial" pitchFamily="34" charset="-120"/>
              </a:rPr>
              <a:t>Free, open, and citable</a:t>
            </a:r>
            <a:endParaRPr lang="en-US" sz="6900" dirty="0"/>
          </a:p>
        </p:txBody>
      </p:sp>
      <p:sp>
        <p:nvSpPr>
          <p:cNvPr id="6" name="Shape 4"/>
          <p:cNvSpPr/>
          <p:nvPr/>
        </p:nvSpPr>
        <p:spPr>
          <a:xfrm>
            <a:off x="1047750" y="5102572"/>
            <a:ext cx="3190875" cy="1362075"/>
          </a:xfrm>
          <a:prstGeom prst="roundRect">
            <a:avLst>
              <a:gd name="adj" fmla="val 9790"/>
            </a:avLst>
          </a:prstGeom>
          <a:solidFill>
            <a:srgbClr val="FFFFFF">
              <a:alpha val="5000"/>
            </a:srgbClr>
          </a:solidFill>
          <a:ln w="9525">
            <a:solidFill>
              <a:srgbClr val="FFFFFF">
                <a:alpha val="13000"/>
              </a:srgbClr>
            </a:solidFill>
            <a:prstDash val="solid"/>
          </a:ln>
        </p:spPr>
      </p:sp>
      <p:sp>
        <p:nvSpPr>
          <p:cNvPr id="7" name="Text 5"/>
          <p:cNvSpPr/>
          <p:nvPr/>
        </p:nvSpPr>
        <p:spPr>
          <a:xfrm>
            <a:off x="1304925" y="5340697"/>
            <a:ext cx="2944178"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EEF2F4"/>
                </a:solidFill>
                <a:latin typeface="Arial" pitchFamily="34" charset="0"/>
                <a:ea typeface="Arial" pitchFamily="34" charset="-122"/>
                <a:cs typeface="Arial" pitchFamily="34" charset="-120"/>
              </a:rPr>
              <a:t>MIT licensed</a:t>
            </a:r>
            <a:endParaRPr lang="en-US" sz="1950" dirty="0"/>
          </a:p>
        </p:txBody>
      </p:sp>
      <p:sp>
        <p:nvSpPr>
          <p:cNvPr id="8" name="Text 6"/>
          <p:cNvSpPr/>
          <p:nvPr/>
        </p:nvSpPr>
        <p:spPr>
          <a:xfrm>
            <a:off x="1304925" y="5683597"/>
            <a:ext cx="2944178" cy="309563"/>
          </a:xfrm>
          <a:prstGeom prst="rect">
            <a:avLst/>
          </a:prstGeom>
          <a:noFill/>
          <a:ln/>
        </p:spPr>
        <p:txBody>
          <a:bodyPr wrap="square" lIns="25400" tIns="25400" rIns="25400" bIns="25400" rtlCol="0" anchor="t">
            <a:normAutofit/>
          </a:bodyPr>
          <a:lstStyle/>
          <a:p>
            <a:pPr algn="l" indent="0" marL="0">
              <a:buNone/>
            </a:pPr>
            <a:r>
              <a:rPr lang="en-US" sz="1650" dirty="0">
                <a:solidFill>
                  <a:srgbClr val="A9BAC4"/>
                </a:solidFill>
                <a:latin typeface="Arial" pitchFamily="34" charset="0"/>
                <a:ea typeface="Arial" pitchFamily="34" charset="-122"/>
                <a:cs typeface="Arial" pitchFamily="34" charset="-120"/>
              </a:rPr>
              <a:t>Free for research use</a:t>
            </a:r>
            <a:endParaRPr lang="en-US" sz="1650" dirty="0"/>
          </a:p>
        </p:txBody>
      </p:sp>
      <p:sp>
        <p:nvSpPr>
          <p:cNvPr id="9" name="Shape 7"/>
          <p:cNvSpPr/>
          <p:nvPr/>
        </p:nvSpPr>
        <p:spPr>
          <a:xfrm>
            <a:off x="4429125" y="5102572"/>
            <a:ext cx="3190875" cy="1362075"/>
          </a:xfrm>
          <a:prstGeom prst="roundRect">
            <a:avLst>
              <a:gd name="adj" fmla="val 9790"/>
            </a:avLst>
          </a:prstGeom>
          <a:solidFill>
            <a:srgbClr val="FFFFFF">
              <a:alpha val="5000"/>
            </a:srgbClr>
          </a:solidFill>
          <a:ln w="9525">
            <a:solidFill>
              <a:srgbClr val="FFFFFF">
                <a:alpha val="13000"/>
              </a:srgbClr>
            </a:solidFill>
            <a:prstDash val="solid"/>
          </a:ln>
        </p:spPr>
      </p:sp>
      <p:sp>
        <p:nvSpPr>
          <p:cNvPr id="10" name="Text 8"/>
          <p:cNvSpPr/>
          <p:nvPr/>
        </p:nvSpPr>
        <p:spPr>
          <a:xfrm>
            <a:off x="4686300" y="5340697"/>
            <a:ext cx="2944178"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EEF2F4"/>
                </a:solidFill>
                <a:latin typeface="Arial" pitchFamily="34" charset="0"/>
                <a:ea typeface="Arial" pitchFamily="34" charset="-122"/>
                <a:cs typeface="Arial" pitchFamily="34" charset="-120"/>
              </a:rPr>
              <a:t>Open source</a:t>
            </a:r>
            <a:endParaRPr lang="en-US" sz="1950" dirty="0"/>
          </a:p>
        </p:txBody>
      </p:sp>
      <p:sp>
        <p:nvSpPr>
          <p:cNvPr id="11" name="Text 9"/>
          <p:cNvSpPr/>
          <p:nvPr/>
        </p:nvSpPr>
        <p:spPr>
          <a:xfrm>
            <a:off x="4686300" y="5683597"/>
            <a:ext cx="2944178" cy="309563"/>
          </a:xfrm>
          <a:prstGeom prst="rect">
            <a:avLst/>
          </a:prstGeom>
          <a:noFill/>
          <a:ln/>
        </p:spPr>
        <p:txBody>
          <a:bodyPr wrap="square" lIns="25400" tIns="25400" rIns="25400" bIns="25400" rtlCol="0" anchor="t">
            <a:normAutofit/>
          </a:bodyPr>
          <a:lstStyle/>
          <a:p>
            <a:pPr algn="l" indent="0" marL="0">
              <a:buNone/>
            </a:pPr>
            <a:r>
              <a:rPr lang="en-US" sz="1650" dirty="0">
                <a:solidFill>
                  <a:srgbClr val="A9BAC4"/>
                </a:solidFill>
                <a:latin typeface="Arial" pitchFamily="34" charset="0"/>
                <a:ea typeface="Arial" pitchFamily="34" charset="-122"/>
                <a:cs typeface="Arial" pitchFamily="34" charset="-120"/>
              </a:rPr>
              <a:t>GitHub · R Shiny</a:t>
            </a:r>
            <a:endParaRPr lang="en-US" sz="1650" dirty="0"/>
          </a:p>
        </p:txBody>
      </p:sp>
      <p:sp>
        <p:nvSpPr>
          <p:cNvPr id="12" name="Shape 10"/>
          <p:cNvSpPr/>
          <p:nvPr/>
        </p:nvSpPr>
        <p:spPr>
          <a:xfrm>
            <a:off x="7810500" y="5102572"/>
            <a:ext cx="3190875" cy="1362075"/>
          </a:xfrm>
          <a:prstGeom prst="roundRect">
            <a:avLst>
              <a:gd name="adj" fmla="val 9790"/>
            </a:avLst>
          </a:prstGeom>
          <a:solidFill>
            <a:srgbClr val="FFFFFF">
              <a:alpha val="5000"/>
            </a:srgbClr>
          </a:solidFill>
          <a:ln w="9525">
            <a:solidFill>
              <a:srgbClr val="FFFFFF">
                <a:alpha val="13000"/>
              </a:srgbClr>
            </a:solidFill>
            <a:prstDash val="solid"/>
          </a:ln>
        </p:spPr>
      </p:sp>
      <p:sp>
        <p:nvSpPr>
          <p:cNvPr id="13" name="Text 11"/>
          <p:cNvSpPr/>
          <p:nvPr/>
        </p:nvSpPr>
        <p:spPr>
          <a:xfrm>
            <a:off x="8067675" y="5340697"/>
            <a:ext cx="2944178"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EEF2F4"/>
                </a:solidFill>
                <a:latin typeface="Arial" pitchFamily="34" charset="0"/>
                <a:ea typeface="Arial" pitchFamily="34" charset="-122"/>
                <a:cs typeface="Arial" pitchFamily="34" charset="-120"/>
              </a:rPr>
              <a:t>Live app</a:t>
            </a:r>
            <a:endParaRPr lang="en-US" sz="1950" dirty="0"/>
          </a:p>
        </p:txBody>
      </p:sp>
      <p:sp>
        <p:nvSpPr>
          <p:cNvPr id="14" name="Text 12"/>
          <p:cNvSpPr/>
          <p:nvPr/>
        </p:nvSpPr>
        <p:spPr>
          <a:xfrm>
            <a:off x="8067675" y="5683597"/>
            <a:ext cx="2756821" cy="581025"/>
          </a:xfrm>
          <a:prstGeom prst="rect">
            <a:avLst/>
          </a:prstGeom>
          <a:noFill/>
          <a:ln/>
        </p:spPr>
        <p:txBody>
          <a:bodyPr wrap="square" lIns="25400" tIns="25400" rIns="25400" bIns="25400" rtlCol="0" anchor="t">
            <a:normAutofit/>
          </a:bodyPr>
          <a:lstStyle/>
          <a:p>
            <a:pPr algn="l" indent="0" marL="0">
              <a:buNone/>
            </a:pPr>
            <a:r>
              <a:rPr lang="en-US" sz="1650" dirty="0">
                <a:solidFill>
                  <a:srgbClr val="A9BAC4"/>
                </a:solidFill>
                <a:latin typeface="Arial" pitchFamily="34" charset="0"/>
                <a:ea typeface="Arial" pitchFamily="34" charset="-122"/>
                <a:cs typeface="Arial" pitchFamily="34" charset="-120"/>
              </a:rPr>
              <a:t>Trastuzumab demo pre-loaded</a:t>
            </a:r>
            <a:endParaRPr lang="en-US" sz="1650" dirty="0"/>
          </a:p>
        </p:txBody>
      </p:sp>
      <p:sp>
        <p:nvSpPr>
          <p:cNvPr id="15" name="Shape 13"/>
          <p:cNvSpPr/>
          <p:nvPr/>
        </p:nvSpPr>
        <p:spPr>
          <a:xfrm>
            <a:off x="11191875" y="5102572"/>
            <a:ext cx="3190875" cy="1362075"/>
          </a:xfrm>
          <a:prstGeom prst="roundRect">
            <a:avLst>
              <a:gd name="adj" fmla="val 9790"/>
            </a:avLst>
          </a:prstGeom>
          <a:solidFill>
            <a:srgbClr val="FFFFFF">
              <a:alpha val="5000"/>
            </a:srgbClr>
          </a:solidFill>
          <a:ln w="9525">
            <a:solidFill>
              <a:srgbClr val="FFFFFF">
                <a:alpha val="13000"/>
              </a:srgbClr>
            </a:solidFill>
            <a:prstDash val="solid"/>
          </a:ln>
        </p:spPr>
      </p:sp>
      <p:sp>
        <p:nvSpPr>
          <p:cNvPr id="16" name="Text 14"/>
          <p:cNvSpPr/>
          <p:nvPr/>
        </p:nvSpPr>
        <p:spPr>
          <a:xfrm>
            <a:off x="11449050" y="5340697"/>
            <a:ext cx="2944178"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EEF2F4"/>
                </a:solidFill>
                <a:latin typeface="Arial" pitchFamily="34" charset="0"/>
                <a:ea typeface="Arial" pitchFamily="34" charset="-122"/>
                <a:cs typeface="Arial" pitchFamily="34" charset="-120"/>
              </a:rPr>
              <a:t>Zenodo DOI</a:t>
            </a:r>
            <a:endParaRPr lang="en-US" sz="1950" dirty="0"/>
          </a:p>
        </p:txBody>
      </p:sp>
      <p:sp>
        <p:nvSpPr>
          <p:cNvPr id="17" name="Text 15"/>
          <p:cNvSpPr/>
          <p:nvPr/>
        </p:nvSpPr>
        <p:spPr>
          <a:xfrm>
            <a:off x="11449050" y="5683597"/>
            <a:ext cx="2944178" cy="285750"/>
          </a:xfrm>
          <a:prstGeom prst="rect">
            <a:avLst/>
          </a:prstGeom>
          <a:noFill/>
          <a:ln/>
        </p:spPr>
        <p:txBody>
          <a:bodyPr wrap="square" lIns="25400" tIns="25400" rIns="25400" bIns="25400" rtlCol="0" anchor="t">
            <a:normAutofit/>
          </a:bodyPr>
          <a:lstStyle/>
          <a:p>
            <a:pPr algn="l" indent="0" marL="0">
              <a:buNone/>
            </a:pPr>
            <a:r>
              <a:rPr lang="en-US" sz="1500" dirty="0">
                <a:solidFill>
                  <a:srgbClr val="A9BAC4"/>
                </a:solidFill>
                <a:latin typeface="Courier New" pitchFamily="34" charset="0"/>
                <a:ea typeface="Courier New" pitchFamily="34" charset="-122"/>
                <a:cs typeface="Courier New" pitchFamily="34" charset="-120"/>
              </a:rPr>
              <a:t>10.5281/zenodo.20681412</a:t>
            </a:r>
            <a:endParaRPr lang="en-US" sz="1500" dirty="0"/>
          </a:p>
        </p:txBody>
      </p:sp>
      <p:sp>
        <p:nvSpPr>
          <p:cNvPr id="18" name="Text 16"/>
          <p:cNvSpPr/>
          <p:nvPr/>
        </p:nvSpPr>
        <p:spPr>
          <a:xfrm>
            <a:off x="1047750" y="9172575"/>
            <a:ext cx="6449965" cy="371475"/>
          </a:xfrm>
          <a:prstGeom prst="rect">
            <a:avLst/>
          </a:prstGeom>
          <a:noFill/>
          <a:ln/>
        </p:spPr>
        <p:txBody>
          <a:bodyPr wrap="square" lIns="25400" tIns="25400" rIns="25400" bIns="25400" rtlCol="0" anchor="t">
            <a:normAutofit/>
          </a:bodyPr>
          <a:lstStyle/>
          <a:p>
            <a:pPr algn="l" indent="0" marL="0">
              <a:buNone/>
            </a:pPr>
            <a:r>
              <a:rPr lang="en-US" sz="2025" dirty="0">
                <a:solidFill>
                  <a:srgbClr val="5EC9A0"/>
                </a:solidFill>
                <a:latin typeface="Courier New" pitchFamily="34" charset="0"/>
                <a:ea typeface="Courier New" pitchFamily="34" charset="-122"/>
                <a:cs typeface="Courier New" pitchFamily="34" charset="-120"/>
              </a:rPr>
              <a:t>nishiw.shinyapps.io/ADC_Peptide_Mapper</a:t>
            </a:r>
            <a:endParaRPr lang="en-US" sz="2025" dirty="0"/>
          </a:p>
        </p:txBody>
      </p:sp>
      <p:sp>
        <p:nvSpPr>
          <p:cNvPr id="19" name="Text 17"/>
          <p:cNvSpPr/>
          <p:nvPr/>
        </p:nvSpPr>
        <p:spPr>
          <a:xfrm>
            <a:off x="13770069" y="8804970"/>
            <a:ext cx="3470181" cy="388590"/>
          </a:xfrm>
          <a:prstGeom prst="rect">
            <a:avLst/>
          </a:prstGeom>
          <a:noFill/>
          <a:ln/>
        </p:spPr>
        <p:txBody>
          <a:bodyPr wrap="square" lIns="25400" tIns="25400" rIns="25400" bIns="25400" rtlCol="0" anchor="t">
            <a:normAutofit/>
          </a:bodyPr>
          <a:lstStyle/>
          <a:p>
            <a:pPr algn="r" indent="0" marL="0">
              <a:lnSpc>
                <a:spcPct val="160000"/>
              </a:lnSpc>
              <a:buNone/>
            </a:pPr>
            <a:r>
              <a:rPr lang="en-US" sz="1725" dirty="0">
                <a:solidFill>
                  <a:srgbClr val="B9C6CF"/>
                </a:solidFill>
                <a:latin typeface="Courier New" pitchFamily="34" charset="0"/>
                <a:ea typeface="Courier New" pitchFamily="34" charset="-122"/>
                <a:cs typeface="Courier New" pitchFamily="34" charset="-120"/>
              </a:rPr>
              <a:t>Nishikant Wase, PhD</a:t>
            </a:r>
            <a:endParaRPr lang="en-US" sz="1725" dirty="0"/>
          </a:p>
        </p:txBody>
      </p:sp>
      <p:sp>
        <p:nvSpPr>
          <p:cNvPr id="20" name="Text 18"/>
          <p:cNvSpPr/>
          <p:nvPr/>
        </p:nvSpPr>
        <p:spPr>
          <a:xfrm>
            <a:off x="13770069" y="9155460"/>
            <a:ext cx="3470181" cy="388590"/>
          </a:xfrm>
          <a:prstGeom prst="rect">
            <a:avLst/>
          </a:prstGeom>
          <a:noFill/>
          <a:ln/>
        </p:spPr>
        <p:txBody>
          <a:bodyPr wrap="square" lIns="25400" tIns="25400" rIns="25400" bIns="25400" rtlCol="0" anchor="t">
            <a:normAutofit/>
          </a:bodyPr>
          <a:lstStyle/>
          <a:p>
            <a:pPr algn="r" indent="0" marL="0">
              <a:lnSpc>
                <a:spcPct val="160000"/>
              </a:lnSpc>
              <a:buNone/>
            </a:pPr>
            <a:r>
              <a:rPr lang="en-US" sz="1725" dirty="0">
                <a:solidFill>
                  <a:srgbClr val="8EA0AC"/>
                </a:solidFill>
                <a:latin typeface="Courier New" pitchFamily="34" charset="0"/>
                <a:ea typeface="Courier New" pitchFamily="34" charset="-122"/>
                <a:cs typeface="Courier New" pitchFamily="34" charset="-120"/>
              </a:rPr>
              <a:t>nishikant.wase@gmail.com</a:t>
            </a:r>
            <a:endParaRPr lang="en-US" sz="17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2026-07-01T14:11:01Z</dcterms:created>
  <dcterms:modified xsi:type="dcterms:W3CDTF">2026-07-01T14:11:01Z</dcterms:modified>
</cp:coreProperties>
</file>